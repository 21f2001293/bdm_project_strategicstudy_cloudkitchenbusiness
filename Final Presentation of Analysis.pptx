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Work Sans" charset="1" panose="00000000000000000000"/>
      <p:regular r:id="rId17"/>
    </p:embeddedFont>
    <p:embeddedFont>
      <p:font typeface="Work Sans Bold" charset="1" panose="00000000000000000000"/>
      <p:regular r:id="rId18"/>
    </p:embeddedFont>
    <p:embeddedFont>
      <p:font typeface="Inter Bold" charset="1" panose="020B0802030000000004"/>
      <p:regular r:id="rId19"/>
    </p:embeddedFont>
    <p:embeddedFont>
      <p:font typeface="Canva Sans" charset="1" panose="020B0503030501040103"/>
      <p:regular r:id="rId20"/>
    </p:embeddedFont>
    <p:embeddedFont>
      <p:font typeface="Sacramento" charset="1" panose="02000507000000020000"/>
      <p:regular r:id="rId21"/>
    </p:embeddedFont>
    <p:embeddedFont>
      <p:font typeface="Montserrat Semi-Bold" charset="1" panose="000007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28.png" Type="http://schemas.openxmlformats.org/officeDocument/2006/relationships/image"/><Relationship Id="rId16" Target="../media/image29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14" Target="../media/image50.png" Type="http://schemas.openxmlformats.org/officeDocument/2006/relationships/image"/><Relationship Id="rId15" Target="../media/image51.sv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42.png" Type="http://schemas.openxmlformats.org/officeDocument/2006/relationships/image"/><Relationship Id="rId7" Target="../media/image43.svg" Type="http://schemas.openxmlformats.org/officeDocument/2006/relationships/image"/><Relationship Id="rId8" Target="../media/image44.png" Type="http://schemas.openxmlformats.org/officeDocument/2006/relationships/image"/><Relationship Id="rId9" Target="../media/image4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2" Target="../media/image52.png" Type="http://schemas.openxmlformats.org/officeDocument/2006/relationships/image"/><Relationship Id="rId3" Target="../media/image53.png" Type="http://schemas.openxmlformats.org/officeDocument/2006/relationships/image"/><Relationship Id="rId4" Target="../media/image54.png" Type="http://schemas.openxmlformats.org/officeDocument/2006/relationships/image"/><Relationship Id="rId5" Target="../media/image55.png" Type="http://schemas.openxmlformats.org/officeDocument/2006/relationships/image"/><Relationship Id="rId6" Target="../media/image56.png" Type="http://schemas.openxmlformats.org/officeDocument/2006/relationships/image"/><Relationship Id="rId7" Target="../media/image57.pn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jpe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00803" y="0"/>
            <a:ext cx="8817093" cy="10287000"/>
            <a:chOff x="0" y="0"/>
            <a:chExt cx="136599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599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65998">
                  <a:moveTo>
                    <a:pt x="43903" y="0"/>
                  </a:moveTo>
                  <a:lnTo>
                    <a:pt x="1322095" y="0"/>
                  </a:lnTo>
                  <a:cubicBezTo>
                    <a:pt x="1346342" y="0"/>
                    <a:pt x="1365998" y="19656"/>
                    <a:pt x="1365998" y="43903"/>
                  </a:cubicBezTo>
                  <a:lnTo>
                    <a:pt x="1365998" y="1549823"/>
                  </a:lnTo>
                  <a:cubicBezTo>
                    <a:pt x="1365998" y="1561466"/>
                    <a:pt x="1361373" y="1572633"/>
                    <a:pt x="1353139" y="1580867"/>
                  </a:cubicBezTo>
                  <a:cubicBezTo>
                    <a:pt x="1344906" y="1589100"/>
                    <a:pt x="1333739" y="1593725"/>
                    <a:pt x="1322095" y="1593725"/>
                  </a:cubicBezTo>
                  <a:lnTo>
                    <a:pt x="43903" y="1593725"/>
                  </a:lnTo>
                  <a:cubicBezTo>
                    <a:pt x="32259" y="1593725"/>
                    <a:pt x="21092" y="1589100"/>
                    <a:pt x="12859" y="1580867"/>
                  </a:cubicBezTo>
                  <a:cubicBezTo>
                    <a:pt x="4625" y="1572633"/>
                    <a:pt x="0" y="1561466"/>
                    <a:pt x="0" y="1549823"/>
                  </a:cubicBezTo>
                  <a:lnTo>
                    <a:pt x="0" y="43903"/>
                  </a:lnTo>
                  <a:cubicBezTo>
                    <a:pt x="0" y="32259"/>
                    <a:pt x="4625" y="21092"/>
                    <a:pt x="12859" y="12859"/>
                  </a:cubicBezTo>
                  <a:cubicBezTo>
                    <a:pt x="21092" y="4625"/>
                    <a:pt x="32259" y="0"/>
                    <a:pt x="43903" y="0"/>
                  </a:cubicBezTo>
                  <a:close/>
                </a:path>
              </a:pathLst>
            </a:custGeom>
            <a:blipFill>
              <a:blip r:embed="rId2"/>
              <a:stretch>
                <a:fillRect l="-37423" t="0" r="-3742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7793387"/>
            <a:ext cx="2801404" cy="641117"/>
            <a:chOff x="0" y="0"/>
            <a:chExt cx="737818" cy="1688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7818" cy="168854"/>
            </a:xfrm>
            <a:custGeom>
              <a:avLst/>
              <a:gdLst/>
              <a:ahLst/>
              <a:cxnLst/>
              <a:rect r="r" b="b" t="t" l="l"/>
              <a:pathLst>
                <a:path h="168854" w="737818">
                  <a:moveTo>
                    <a:pt x="46981" y="0"/>
                  </a:moveTo>
                  <a:lnTo>
                    <a:pt x="690837" y="0"/>
                  </a:lnTo>
                  <a:cubicBezTo>
                    <a:pt x="703298" y="0"/>
                    <a:pt x="715247" y="4950"/>
                    <a:pt x="724058" y="13760"/>
                  </a:cubicBezTo>
                  <a:cubicBezTo>
                    <a:pt x="732869" y="22571"/>
                    <a:pt x="737818" y="34521"/>
                    <a:pt x="737818" y="46981"/>
                  </a:cubicBezTo>
                  <a:lnTo>
                    <a:pt x="737818" y="121873"/>
                  </a:lnTo>
                  <a:cubicBezTo>
                    <a:pt x="737818" y="147820"/>
                    <a:pt x="716784" y="168854"/>
                    <a:pt x="690837" y="168854"/>
                  </a:cubicBezTo>
                  <a:lnTo>
                    <a:pt x="46981" y="168854"/>
                  </a:lnTo>
                  <a:cubicBezTo>
                    <a:pt x="34521" y="168854"/>
                    <a:pt x="22571" y="163904"/>
                    <a:pt x="13760" y="155093"/>
                  </a:cubicBezTo>
                  <a:cubicBezTo>
                    <a:pt x="4950" y="146283"/>
                    <a:pt x="0" y="134333"/>
                    <a:pt x="0" y="121873"/>
                  </a:cubicBezTo>
                  <a:lnTo>
                    <a:pt x="0" y="46981"/>
                  </a:lnTo>
                  <a:cubicBezTo>
                    <a:pt x="0" y="34521"/>
                    <a:pt x="4950" y="22571"/>
                    <a:pt x="13760" y="13760"/>
                  </a:cubicBezTo>
                  <a:cubicBezTo>
                    <a:pt x="22571" y="4950"/>
                    <a:pt x="34521" y="0"/>
                    <a:pt x="46981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737818" cy="20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8617183"/>
            <a:ext cx="2801404" cy="641117"/>
            <a:chOff x="0" y="0"/>
            <a:chExt cx="737818" cy="1688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7818" cy="168854"/>
            </a:xfrm>
            <a:custGeom>
              <a:avLst/>
              <a:gdLst/>
              <a:ahLst/>
              <a:cxnLst/>
              <a:rect r="r" b="b" t="t" l="l"/>
              <a:pathLst>
                <a:path h="168854" w="737818">
                  <a:moveTo>
                    <a:pt x="46981" y="0"/>
                  </a:moveTo>
                  <a:lnTo>
                    <a:pt x="690837" y="0"/>
                  </a:lnTo>
                  <a:cubicBezTo>
                    <a:pt x="703298" y="0"/>
                    <a:pt x="715247" y="4950"/>
                    <a:pt x="724058" y="13760"/>
                  </a:cubicBezTo>
                  <a:cubicBezTo>
                    <a:pt x="732869" y="22571"/>
                    <a:pt x="737818" y="34521"/>
                    <a:pt x="737818" y="46981"/>
                  </a:cubicBezTo>
                  <a:lnTo>
                    <a:pt x="737818" y="121873"/>
                  </a:lnTo>
                  <a:cubicBezTo>
                    <a:pt x="737818" y="147820"/>
                    <a:pt x="716784" y="168854"/>
                    <a:pt x="690837" y="168854"/>
                  </a:cubicBezTo>
                  <a:lnTo>
                    <a:pt x="46981" y="168854"/>
                  </a:lnTo>
                  <a:cubicBezTo>
                    <a:pt x="34521" y="168854"/>
                    <a:pt x="22571" y="163904"/>
                    <a:pt x="13760" y="155093"/>
                  </a:cubicBezTo>
                  <a:cubicBezTo>
                    <a:pt x="4950" y="146283"/>
                    <a:pt x="0" y="134333"/>
                    <a:pt x="0" y="121873"/>
                  </a:cubicBezTo>
                  <a:lnTo>
                    <a:pt x="0" y="46981"/>
                  </a:lnTo>
                  <a:cubicBezTo>
                    <a:pt x="0" y="34521"/>
                    <a:pt x="4950" y="22571"/>
                    <a:pt x="13760" y="13760"/>
                  </a:cubicBezTo>
                  <a:cubicBezTo>
                    <a:pt x="22571" y="4950"/>
                    <a:pt x="34521" y="0"/>
                    <a:pt x="46981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37818" cy="20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392450"/>
            <a:ext cx="553571" cy="388506"/>
          </a:xfrm>
          <a:custGeom>
            <a:avLst/>
            <a:gdLst/>
            <a:ahLst/>
            <a:cxnLst/>
            <a:rect r="r" b="b" t="t" l="l"/>
            <a:pathLst>
              <a:path h="388506" w="553571">
                <a:moveTo>
                  <a:pt x="0" y="0"/>
                </a:moveTo>
                <a:lnTo>
                  <a:pt x="553571" y="0"/>
                </a:lnTo>
                <a:lnTo>
                  <a:pt x="553571" y="388506"/>
                </a:lnTo>
                <a:lnTo>
                  <a:pt x="0" y="388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6464" y="314713"/>
            <a:ext cx="605807" cy="713987"/>
          </a:xfrm>
          <a:custGeom>
            <a:avLst/>
            <a:gdLst/>
            <a:ahLst/>
            <a:cxnLst/>
            <a:rect r="r" b="b" t="t" l="l"/>
            <a:pathLst>
              <a:path h="713987" w="605807">
                <a:moveTo>
                  <a:pt x="0" y="0"/>
                </a:moveTo>
                <a:lnTo>
                  <a:pt x="605807" y="0"/>
                </a:lnTo>
                <a:lnTo>
                  <a:pt x="605807" y="713987"/>
                </a:lnTo>
                <a:lnTo>
                  <a:pt x="0" y="713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3450" y="1504856"/>
            <a:ext cx="9957200" cy="149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27"/>
              </a:lnSpc>
              <a:spcBef>
                <a:spcPct val="0"/>
              </a:spcBef>
            </a:pPr>
            <a:r>
              <a:rPr lang="en-US" b="true" sz="8805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BDM 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230900"/>
            <a:ext cx="8776787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Rev</a:t>
            </a:r>
            <a:r>
              <a:rPr lang="en-US" sz="30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iving Online Sales: Addressing Order Decline in a Biryani Cloud Kitchen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5108" y="396520"/>
            <a:ext cx="2291704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AX-WXXX BXXXXXX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2982" y="7905983"/>
            <a:ext cx="1732840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Sharmila L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562982" y="8729779"/>
            <a:ext cx="173284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21f200XXXX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5657" y="152788"/>
            <a:ext cx="7429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37127" y="1568065"/>
            <a:ext cx="8816260" cy="6792851"/>
            <a:chOff x="0" y="0"/>
            <a:chExt cx="2321978" cy="1789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1978" cy="1789063"/>
            </a:xfrm>
            <a:custGeom>
              <a:avLst/>
              <a:gdLst/>
              <a:ahLst/>
              <a:cxnLst/>
              <a:rect r="r" b="b" t="t" l="l"/>
              <a:pathLst>
                <a:path h="1789063" w="2321978">
                  <a:moveTo>
                    <a:pt x="52688" y="0"/>
                  </a:moveTo>
                  <a:lnTo>
                    <a:pt x="2269290" y="0"/>
                  </a:lnTo>
                  <a:cubicBezTo>
                    <a:pt x="2283263" y="0"/>
                    <a:pt x="2296665" y="5551"/>
                    <a:pt x="2306546" y="15432"/>
                  </a:cubicBezTo>
                  <a:cubicBezTo>
                    <a:pt x="2316427" y="25313"/>
                    <a:pt x="2321978" y="38715"/>
                    <a:pt x="2321978" y="52688"/>
                  </a:cubicBezTo>
                  <a:lnTo>
                    <a:pt x="2321978" y="1736375"/>
                  </a:lnTo>
                  <a:cubicBezTo>
                    <a:pt x="2321978" y="1750349"/>
                    <a:pt x="2316427" y="1763750"/>
                    <a:pt x="2306546" y="1773631"/>
                  </a:cubicBezTo>
                  <a:cubicBezTo>
                    <a:pt x="2296665" y="1783512"/>
                    <a:pt x="2283263" y="1789063"/>
                    <a:pt x="2269290" y="1789063"/>
                  </a:cubicBezTo>
                  <a:lnTo>
                    <a:pt x="52688" y="1789063"/>
                  </a:lnTo>
                  <a:cubicBezTo>
                    <a:pt x="38715" y="1789063"/>
                    <a:pt x="25313" y="1783512"/>
                    <a:pt x="15432" y="1773631"/>
                  </a:cubicBezTo>
                  <a:cubicBezTo>
                    <a:pt x="5551" y="1763750"/>
                    <a:pt x="0" y="1750349"/>
                    <a:pt x="0" y="1736375"/>
                  </a:cubicBezTo>
                  <a:lnTo>
                    <a:pt x="0" y="52688"/>
                  </a:lnTo>
                  <a:cubicBezTo>
                    <a:pt x="0" y="38715"/>
                    <a:pt x="5551" y="25313"/>
                    <a:pt x="15432" y="15432"/>
                  </a:cubicBezTo>
                  <a:cubicBezTo>
                    <a:pt x="25313" y="5551"/>
                    <a:pt x="38715" y="0"/>
                    <a:pt x="526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321978" cy="18366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312701"/>
            <a:ext cx="10689813" cy="8112357"/>
            <a:chOff x="0" y="0"/>
            <a:chExt cx="2815424" cy="21365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5424" cy="2136588"/>
            </a:xfrm>
            <a:custGeom>
              <a:avLst/>
              <a:gdLst/>
              <a:ahLst/>
              <a:cxnLst/>
              <a:rect r="r" b="b" t="t" l="l"/>
              <a:pathLst>
                <a:path h="2136588" w="2815424">
                  <a:moveTo>
                    <a:pt x="28969" y="0"/>
                  </a:moveTo>
                  <a:lnTo>
                    <a:pt x="2786455" y="0"/>
                  </a:lnTo>
                  <a:cubicBezTo>
                    <a:pt x="2794138" y="0"/>
                    <a:pt x="2801506" y="3052"/>
                    <a:pt x="2806939" y="8485"/>
                  </a:cubicBezTo>
                  <a:cubicBezTo>
                    <a:pt x="2812372" y="13918"/>
                    <a:pt x="2815424" y="21286"/>
                    <a:pt x="2815424" y="28969"/>
                  </a:cubicBezTo>
                  <a:lnTo>
                    <a:pt x="2815424" y="2107619"/>
                  </a:lnTo>
                  <a:cubicBezTo>
                    <a:pt x="2815424" y="2123618"/>
                    <a:pt x="2802454" y="2136588"/>
                    <a:pt x="2786455" y="2136588"/>
                  </a:cubicBezTo>
                  <a:lnTo>
                    <a:pt x="28969" y="2136588"/>
                  </a:lnTo>
                  <a:cubicBezTo>
                    <a:pt x="12970" y="2136588"/>
                    <a:pt x="0" y="2123618"/>
                    <a:pt x="0" y="2107619"/>
                  </a:cubicBezTo>
                  <a:lnTo>
                    <a:pt x="0" y="28969"/>
                  </a:lnTo>
                  <a:cubicBezTo>
                    <a:pt x="0" y="12970"/>
                    <a:pt x="12970" y="0"/>
                    <a:pt x="28969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815424" cy="218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344735" y="4613566"/>
            <a:ext cx="4606138" cy="4465724"/>
            <a:chOff x="0" y="0"/>
            <a:chExt cx="647965" cy="6282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965" cy="628212"/>
            </a:xfrm>
            <a:custGeom>
              <a:avLst/>
              <a:gdLst/>
              <a:ahLst/>
              <a:cxnLst/>
              <a:rect r="r" b="b" t="t" l="l"/>
              <a:pathLst>
                <a:path h="628212" w="647965">
                  <a:moveTo>
                    <a:pt x="50424" y="0"/>
                  </a:moveTo>
                  <a:lnTo>
                    <a:pt x="597541" y="0"/>
                  </a:lnTo>
                  <a:cubicBezTo>
                    <a:pt x="610915" y="0"/>
                    <a:pt x="623740" y="5312"/>
                    <a:pt x="633196" y="14769"/>
                  </a:cubicBezTo>
                  <a:cubicBezTo>
                    <a:pt x="642652" y="24225"/>
                    <a:pt x="647965" y="37050"/>
                    <a:pt x="647965" y="50424"/>
                  </a:cubicBezTo>
                  <a:lnTo>
                    <a:pt x="647965" y="577789"/>
                  </a:lnTo>
                  <a:cubicBezTo>
                    <a:pt x="647965" y="591162"/>
                    <a:pt x="642652" y="603987"/>
                    <a:pt x="633196" y="613444"/>
                  </a:cubicBezTo>
                  <a:cubicBezTo>
                    <a:pt x="623740" y="622900"/>
                    <a:pt x="610915" y="628212"/>
                    <a:pt x="597541" y="628212"/>
                  </a:cubicBezTo>
                  <a:lnTo>
                    <a:pt x="50424" y="628212"/>
                  </a:lnTo>
                  <a:cubicBezTo>
                    <a:pt x="37050" y="628212"/>
                    <a:pt x="24225" y="622900"/>
                    <a:pt x="14769" y="613444"/>
                  </a:cubicBezTo>
                  <a:cubicBezTo>
                    <a:pt x="5312" y="603987"/>
                    <a:pt x="0" y="591162"/>
                    <a:pt x="0" y="577789"/>
                  </a:cubicBezTo>
                  <a:lnTo>
                    <a:pt x="0" y="50424"/>
                  </a:lnTo>
                  <a:cubicBezTo>
                    <a:pt x="0" y="37050"/>
                    <a:pt x="5312" y="24225"/>
                    <a:pt x="14769" y="14769"/>
                  </a:cubicBezTo>
                  <a:cubicBezTo>
                    <a:pt x="24225" y="5312"/>
                    <a:pt x="37050" y="0"/>
                    <a:pt x="5042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949" r="0" b="-294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79608" y="1718348"/>
            <a:ext cx="8871172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Startup's Recipe: Passion +  Biryani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4593" y="3318548"/>
            <a:ext cx="8196766" cy="639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Ax‑Wxxx Bxxxxxxx, a cloud kitchen founded in April 2023 by Mrs. Rxxxxx Pxxxxxx, determined to fill the market gap by introducing </a:t>
            </a:r>
            <a:r>
              <a:rPr lang="en-US" sz="2289" b="tru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Chennai’s signature flavor</a:t>
            </a: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to Madurai with a focused, affordable menu.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Hero product: Regular Chicken Biryani at just ₹80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Operating hours: Daily from 11:30 AM to 3:00 PM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Team strength: 4 employees + master chef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Dine‑in capacity: 5 seats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Primary sales channels: Zomato/Swiggy deliveries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Liftime Orders [Apr2023-Dec2024]: 3220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Debt Free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Rental free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Developing Area , located in Main Road</a:t>
            </a:r>
          </a:p>
          <a:p>
            <a:pPr algn="l" marL="494232" indent="-247116" lvl="1">
              <a:lnSpc>
                <a:spcPts val="3204"/>
              </a:lnSpc>
              <a:buFont typeface="Arial"/>
              <a:buChar char="•"/>
            </a:pPr>
            <a:r>
              <a:rPr lang="en-US" sz="228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Vision: Scale and become a huge brand like Behrouz Biryani</a:t>
            </a:r>
          </a:p>
          <a:p>
            <a:pPr algn="l">
              <a:lnSpc>
                <a:spcPts val="320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26045" y="109987"/>
            <a:ext cx="136513" cy="3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0536" y="1645235"/>
            <a:ext cx="5515019" cy="7600386"/>
            <a:chOff x="0" y="0"/>
            <a:chExt cx="1452515" cy="20017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2515" cy="2001748"/>
            </a:xfrm>
            <a:custGeom>
              <a:avLst/>
              <a:gdLst/>
              <a:ahLst/>
              <a:cxnLst/>
              <a:rect r="r" b="b" t="t" l="l"/>
              <a:pathLst>
                <a:path h="2001748" w="1452515">
                  <a:moveTo>
                    <a:pt x="56152" y="0"/>
                  </a:moveTo>
                  <a:lnTo>
                    <a:pt x="1396364" y="0"/>
                  </a:lnTo>
                  <a:cubicBezTo>
                    <a:pt x="1427375" y="0"/>
                    <a:pt x="1452515" y="25140"/>
                    <a:pt x="1452515" y="56152"/>
                  </a:cubicBezTo>
                  <a:lnTo>
                    <a:pt x="1452515" y="1945596"/>
                  </a:lnTo>
                  <a:cubicBezTo>
                    <a:pt x="1452515" y="1960488"/>
                    <a:pt x="1446599" y="1974771"/>
                    <a:pt x="1436069" y="1985301"/>
                  </a:cubicBezTo>
                  <a:cubicBezTo>
                    <a:pt x="1425538" y="1995832"/>
                    <a:pt x="1411256" y="2001748"/>
                    <a:pt x="1396364" y="2001748"/>
                  </a:cubicBezTo>
                  <a:lnTo>
                    <a:pt x="56152" y="2001748"/>
                  </a:lnTo>
                  <a:cubicBezTo>
                    <a:pt x="41259" y="2001748"/>
                    <a:pt x="26977" y="1995832"/>
                    <a:pt x="16446" y="1985301"/>
                  </a:cubicBezTo>
                  <a:cubicBezTo>
                    <a:pt x="5916" y="1974771"/>
                    <a:pt x="0" y="1960488"/>
                    <a:pt x="0" y="1945596"/>
                  </a:cubicBezTo>
                  <a:lnTo>
                    <a:pt x="0" y="56152"/>
                  </a:lnTo>
                  <a:cubicBezTo>
                    <a:pt x="0" y="41259"/>
                    <a:pt x="5916" y="26977"/>
                    <a:pt x="16446" y="16446"/>
                  </a:cubicBezTo>
                  <a:cubicBezTo>
                    <a:pt x="26977" y="5916"/>
                    <a:pt x="41259" y="0"/>
                    <a:pt x="56152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52515" cy="20493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5219" y="2479962"/>
            <a:ext cx="790635" cy="790635"/>
            <a:chOff x="0" y="0"/>
            <a:chExt cx="1054180" cy="105418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54180" cy="1054180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05324" y="364733"/>
              <a:ext cx="643533" cy="353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b="true" sz="1900" spc="209">
                  <a:solidFill>
                    <a:srgbClr val="FB9B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01.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55219" y="4511026"/>
            <a:ext cx="790635" cy="790635"/>
            <a:chOff x="0" y="0"/>
            <a:chExt cx="1054180" cy="105418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54180" cy="105418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05324" y="364733"/>
              <a:ext cx="643533" cy="353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b="true" sz="1900" spc="209">
                  <a:solidFill>
                    <a:srgbClr val="FB9B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02.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5219" y="6816693"/>
            <a:ext cx="790635" cy="790635"/>
            <a:chOff x="0" y="0"/>
            <a:chExt cx="1054180" cy="105418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54180" cy="1054180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05324" y="364733"/>
              <a:ext cx="643533" cy="3532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00"/>
                </a:lnSpc>
              </a:pPr>
              <a:r>
                <a:rPr lang="en-US" b="true" sz="1900" spc="209">
                  <a:solidFill>
                    <a:srgbClr val="FB9B3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03.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94201" y="1734450"/>
            <a:ext cx="10195848" cy="6572511"/>
            <a:chOff x="0" y="0"/>
            <a:chExt cx="13594464" cy="8763348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10034094" y="7860688"/>
              <a:ext cx="2655910" cy="902660"/>
              <a:chOff x="0" y="0"/>
              <a:chExt cx="496821" cy="16885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96821" cy="168854"/>
              </a:xfrm>
              <a:custGeom>
                <a:avLst/>
                <a:gdLst/>
                <a:ahLst/>
                <a:cxnLst/>
                <a:rect r="r" b="b" t="t" l="l"/>
                <a:pathLst>
                  <a:path h="168854" w="496821">
                    <a:moveTo>
                      <a:pt x="69770" y="0"/>
                    </a:moveTo>
                    <a:lnTo>
                      <a:pt x="427051" y="0"/>
                    </a:lnTo>
                    <a:cubicBezTo>
                      <a:pt x="445555" y="0"/>
                      <a:pt x="463302" y="7351"/>
                      <a:pt x="476386" y="20435"/>
                    </a:cubicBezTo>
                    <a:cubicBezTo>
                      <a:pt x="489470" y="33520"/>
                      <a:pt x="496821" y="51266"/>
                      <a:pt x="496821" y="69770"/>
                    </a:cubicBezTo>
                    <a:lnTo>
                      <a:pt x="496821" y="99083"/>
                    </a:lnTo>
                    <a:cubicBezTo>
                      <a:pt x="496821" y="137617"/>
                      <a:pt x="465584" y="168854"/>
                      <a:pt x="427051" y="168854"/>
                    </a:cubicBezTo>
                    <a:lnTo>
                      <a:pt x="69770" y="168854"/>
                    </a:lnTo>
                    <a:cubicBezTo>
                      <a:pt x="31237" y="168854"/>
                      <a:pt x="0" y="137617"/>
                      <a:pt x="0" y="99083"/>
                    </a:cubicBezTo>
                    <a:lnTo>
                      <a:pt x="0" y="69770"/>
                    </a:lnTo>
                    <a:cubicBezTo>
                      <a:pt x="0" y="31237"/>
                      <a:pt x="31237" y="0"/>
                      <a:pt x="69770" y="0"/>
                    </a:cubicBezTo>
                    <a:close/>
                  </a:path>
                </a:pathLst>
              </a:custGeom>
              <a:solidFill>
                <a:srgbClr val="D5544E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96821" cy="20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Delivery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5500532" y="7860688"/>
              <a:ext cx="2960428" cy="902660"/>
              <a:chOff x="0" y="0"/>
              <a:chExt cx="553785" cy="16885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553785" cy="168854"/>
              </a:xfrm>
              <a:custGeom>
                <a:avLst/>
                <a:gdLst/>
                <a:ahLst/>
                <a:cxnLst/>
                <a:rect r="r" b="b" t="t" l="l"/>
                <a:pathLst>
                  <a:path h="168854" w="553785">
                    <a:moveTo>
                      <a:pt x="62594" y="0"/>
                    </a:moveTo>
                    <a:lnTo>
                      <a:pt x="491192" y="0"/>
                    </a:lnTo>
                    <a:cubicBezTo>
                      <a:pt x="525761" y="0"/>
                      <a:pt x="553785" y="28024"/>
                      <a:pt x="553785" y="62594"/>
                    </a:cubicBezTo>
                    <a:lnTo>
                      <a:pt x="553785" y="106260"/>
                    </a:lnTo>
                    <a:cubicBezTo>
                      <a:pt x="553785" y="140830"/>
                      <a:pt x="525761" y="168854"/>
                      <a:pt x="491192" y="168854"/>
                    </a:cubicBezTo>
                    <a:lnTo>
                      <a:pt x="62594" y="168854"/>
                    </a:lnTo>
                    <a:cubicBezTo>
                      <a:pt x="28024" y="168854"/>
                      <a:pt x="0" y="140830"/>
                      <a:pt x="0" y="106260"/>
                    </a:cubicBezTo>
                    <a:lnTo>
                      <a:pt x="0" y="62594"/>
                    </a:lnTo>
                    <a:cubicBezTo>
                      <a:pt x="0" y="28024"/>
                      <a:pt x="28024" y="0"/>
                      <a:pt x="62594" y="0"/>
                    </a:cubicBezTo>
                    <a:close/>
                  </a:path>
                </a:pathLst>
              </a:custGeom>
              <a:solidFill>
                <a:srgbClr val="D5544E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553785" cy="20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Operations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853257" y="7860688"/>
              <a:ext cx="2709450" cy="902660"/>
              <a:chOff x="0" y="0"/>
              <a:chExt cx="506837" cy="168854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06837" cy="168854"/>
              </a:xfrm>
              <a:custGeom>
                <a:avLst/>
                <a:gdLst/>
                <a:ahLst/>
                <a:cxnLst/>
                <a:rect r="r" b="b" t="t" l="l"/>
                <a:pathLst>
                  <a:path h="168854" w="506837">
                    <a:moveTo>
                      <a:pt x="68392" y="0"/>
                    </a:moveTo>
                    <a:lnTo>
                      <a:pt x="438445" y="0"/>
                    </a:lnTo>
                    <a:cubicBezTo>
                      <a:pt x="476217" y="0"/>
                      <a:pt x="506837" y="30620"/>
                      <a:pt x="506837" y="68392"/>
                    </a:cubicBezTo>
                    <a:lnTo>
                      <a:pt x="506837" y="100462"/>
                    </a:lnTo>
                    <a:cubicBezTo>
                      <a:pt x="506837" y="138234"/>
                      <a:pt x="476217" y="168854"/>
                      <a:pt x="438445" y="168854"/>
                    </a:cubicBezTo>
                    <a:lnTo>
                      <a:pt x="68392" y="168854"/>
                    </a:lnTo>
                    <a:cubicBezTo>
                      <a:pt x="30620" y="168854"/>
                      <a:pt x="0" y="138234"/>
                      <a:pt x="0" y="100462"/>
                    </a:cubicBezTo>
                    <a:lnTo>
                      <a:pt x="0" y="68392"/>
                    </a:lnTo>
                    <a:cubicBezTo>
                      <a:pt x="0" y="30620"/>
                      <a:pt x="30620" y="0"/>
                      <a:pt x="68392" y="0"/>
                    </a:cubicBezTo>
                    <a:close/>
                  </a:path>
                </a:pathLst>
              </a:custGeom>
              <a:solidFill>
                <a:srgbClr val="D5544E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06837" cy="2069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r>
                  <a:rPr lang="en-US" sz="1899">
                    <a:solidFill>
                      <a:srgbClr val="FFFFFF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 Customers</a:t>
                </a: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6345002" y="1077412"/>
              <a:ext cx="1271488" cy="2168849"/>
            </a:xfrm>
            <a:custGeom>
              <a:avLst/>
              <a:gdLst/>
              <a:ahLst/>
              <a:cxnLst/>
              <a:rect r="r" b="b" t="t" l="l"/>
              <a:pathLst>
                <a:path h="2168849" w="1271488">
                  <a:moveTo>
                    <a:pt x="0" y="0"/>
                  </a:moveTo>
                  <a:lnTo>
                    <a:pt x="1271488" y="0"/>
                  </a:lnTo>
                  <a:lnTo>
                    <a:pt x="1271488" y="2168849"/>
                  </a:lnTo>
                  <a:lnTo>
                    <a:pt x="0" y="21688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420053" y="769749"/>
              <a:ext cx="2655258" cy="2253650"/>
            </a:xfrm>
            <a:custGeom>
              <a:avLst/>
              <a:gdLst/>
              <a:ahLst/>
              <a:cxnLst/>
              <a:rect r="r" b="b" t="t" l="l"/>
              <a:pathLst>
                <a:path h="2253650" w="2655258">
                  <a:moveTo>
                    <a:pt x="0" y="0"/>
                  </a:moveTo>
                  <a:lnTo>
                    <a:pt x="2655258" y="0"/>
                  </a:lnTo>
                  <a:lnTo>
                    <a:pt x="2655258" y="2253650"/>
                  </a:lnTo>
                  <a:lnTo>
                    <a:pt x="0" y="2253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435577" y="1589707"/>
              <a:ext cx="2314130" cy="2537191"/>
            </a:xfrm>
            <a:custGeom>
              <a:avLst/>
              <a:gdLst/>
              <a:ahLst/>
              <a:cxnLst/>
              <a:rect r="r" b="b" t="t" l="l"/>
              <a:pathLst>
                <a:path h="2537191" w="2314130">
                  <a:moveTo>
                    <a:pt x="0" y="0"/>
                  </a:moveTo>
                  <a:lnTo>
                    <a:pt x="2314129" y="0"/>
                  </a:lnTo>
                  <a:lnTo>
                    <a:pt x="2314129" y="2537191"/>
                  </a:lnTo>
                  <a:lnTo>
                    <a:pt x="0" y="2537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 rot="0">
              <a:off x="326415" y="6122187"/>
              <a:ext cx="3773768" cy="14290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29"/>
                </a:lnSpc>
                <a:spcBef>
                  <a:spcPct val="0"/>
                </a:spcBef>
              </a:pPr>
              <a:r>
                <a:rPr lang="en-US" sz="152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Strategies t</a:t>
              </a:r>
              <a:r>
                <a:rPr lang="en-US" sz="1521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o build long-term customer relationships and improve retention.</a:t>
              </a:r>
            </a:p>
            <a:p>
              <a:pPr algn="ctr">
                <a:lnSpc>
                  <a:spcPts val="2129"/>
                </a:lnSpc>
                <a:spcBef>
                  <a:spcPct val="0"/>
                </a:spcBef>
              </a:pP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100183" y="6141557"/>
              <a:ext cx="4928817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9"/>
                </a:lnSpc>
                <a:spcBef>
                  <a:spcPct val="0"/>
                </a:spcBef>
              </a:pPr>
              <a:r>
                <a:rPr lang="en-US" sz="149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Men</a:t>
              </a:r>
              <a:r>
                <a:rPr lang="en-US" sz="149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u optimization strategies to enhance customer conversions and boost order value.</a:t>
              </a:r>
            </a:p>
            <a:p>
              <a:pPr algn="ctr">
                <a:lnSpc>
                  <a:spcPts val="2099"/>
                </a:lnSpc>
                <a:spcBef>
                  <a:spcPct val="0"/>
                </a:spcBef>
              </a:pP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9029000" y="6122187"/>
              <a:ext cx="4565464" cy="23139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94"/>
                </a:lnSpc>
                <a:spcBef>
                  <a:spcPct val="0"/>
                </a:spcBef>
              </a:pPr>
              <a:r>
                <a:rPr lang="en-US" sz="163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Actionable branding strategies t</a:t>
              </a:r>
              <a:r>
                <a:rPr lang="en-US" sz="163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o strengthen market presence and drive business growth.</a:t>
              </a:r>
            </a:p>
            <a:p>
              <a:pPr algn="ctr">
                <a:lnSpc>
                  <a:spcPts val="2294"/>
                </a:lnSpc>
                <a:spcBef>
                  <a:spcPct val="0"/>
                </a:spcBef>
              </a:pPr>
            </a:p>
            <a:p>
              <a:pPr algn="ctr">
                <a:lnSpc>
                  <a:spcPts val="2294"/>
                </a:lnSpc>
                <a:spcBef>
                  <a:spcPct val="0"/>
                </a:spcBef>
              </a:pPr>
            </a:p>
            <a:p>
              <a:pPr algn="ctr">
                <a:lnSpc>
                  <a:spcPts val="229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355219" y="614363"/>
            <a:ext cx="7271926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2642" y="2602971"/>
            <a:ext cx="428653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Lack of Insight into Year-on-Year Growth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2276" y="4549803"/>
            <a:ext cx="454726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Fluctuations in Online Orders Impacting Business Sustainability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52276" y="6934228"/>
            <a:ext cx="4547269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Low Repeat Customer Rate Affecting Customer Base Growth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385402" y="614362"/>
            <a:ext cx="410004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name="AutoShape 41" id="41"/>
          <p:cNvSpPr/>
          <p:nvPr/>
        </p:nvSpPr>
        <p:spPr>
          <a:xfrm flipH="true">
            <a:off x="7834756" y="386218"/>
            <a:ext cx="0" cy="96293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42" id="42"/>
          <p:cNvSpPr txBox="true"/>
          <p:nvPr/>
        </p:nvSpPr>
        <p:spPr>
          <a:xfrm rot="0">
            <a:off x="226045" y="109987"/>
            <a:ext cx="136513" cy="3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5927" y="2690782"/>
            <a:ext cx="790635" cy="79063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5927" y="5634222"/>
            <a:ext cx="790635" cy="79063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51126" y="1850681"/>
            <a:ext cx="5456700" cy="7742604"/>
            <a:chOff x="0" y="0"/>
            <a:chExt cx="767617" cy="10891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7617" cy="1089185"/>
            </a:xfrm>
            <a:custGeom>
              <a:avLst/>
              <a:gdLst/>
              <a:ahLst/>
              <a:cxnLst/>
              <a:rect r="r" b="b" t="t" l="l"/>
              <a:pathLst>
                <a:path h="1089185" w="767617">
                  <a:moveTo>
                    <a:pt x="42564" y="0"/>
                  </a:moveTo>
                  <a:lnTo>
                    <a:pt x="725053" y="0"/>
                  </a:lnTo>
                  <a:cubicBezTo>
                    <a:pt x="748561" y="0"/>
                    <a:pt x="767617" y="19056"/>
                    <a:pt x="767617" y="42564"/>
                  </a:cubicBezTo>
                  <a:lnTo>
                    <a:pt x="767617" y="1046621"/>
                  </a:lnTo>
                  <a:cubicBezTo>
                    <a:pt x="767617" y="1070128"/>
                    <a:pt x="748561" y="1089185"/>
                    <a:pt x="725053" y="1089185"/>
                  </a:cubicBezTo>
                  <a:lnTo>
                    <a:pt x="42564" y="1089185"/>
                  </a:lnTo>
                  <a:cubicBezTo>
                    <a:pt x="19056" y="1089185"/>
                    <a:pt x="0" y="1070128"/>
                    <a:pt x="0" y="1046621"/>
                  </a:cubicBezTo>
                  <a:lnTo>
                    <a:pt x="0" y="42564"/>
                  </a:lnTo>
                  <a:cubicBezTo>
                    <a:pt x="0" y="19056"/>
                    <a:pt x="19056" y="0"/>
                    <a:pt x="42564" y="0"/>
                  </a:cubicBezTo>
                  <a:close/>
                </a:path>
              </a:pathLst>
            </a:custGeom>
            <a:blipFill>
              <a:blip r:embed="rId2"/>
              <a:stretch>
                <a:fillRect l="-22393" t="0" r="-2239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66777" y="0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15778" y="249001"/>
            <a:ext cx="2588098" cy="2588098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547" t="0" r="-3547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751126" y="2837099"/>
            <a:ext cx="5456700" cy="6307025"/>
            <a:chOff x="0" y="0"/>
            <a:chExt cx="1129667" cy="13057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29667" cy="1305704"/>
            </a:xfrm>
            <a:custGeom>
              <a:avLst/>
              <a:gdLst/>
              <a:ahLst/>
              <a:cxnLst/>
              <a:rect r="r" b="b" t="t" l="l"/>
              <a:pathLst>
                <a:path h="1305704" w="1129667">
                  <a:moveTo>
                    <a:pt x="56752" y="0"/>
                  </a:moveTo>
                  <a:lnTo>
                    <a:pt x="1072915" y="0"/>
                  </a:lnTo>
                  <a:cubicBezTo>
                    <a:pt x="1087967" y="0"/>
                    <a:pt x="1102402" y="5979"/>
                    <a:pt x="1113045" y="16622"/>
                  </a:cubicBezTo>
                  <a:cubicBezTo>
                    <a:pt x="1123688" y="27265"/>
                    <a:pt x="1129667" y="41700"/>
                    <a:pt x="1129667" y="56752"/>
                  </a:cubicBezTo>
                  <a:lnTo>
                    <a:pt x="1129667" y="1248953"/>
                  </a:lnTo>
                  <a:cubicBezTo>
                    <a:pt x="1129667" y="1264004"/>
                    <a:pt x="1123688" y="1278439"/>
                    <a:pt x="1113045" y="1289082"/>
                  </a:cubicBezTo>
                  <a:cubicBezTo>
                    <a:pt x="1102402" y="1299725"/>
                    <a:pt x="1087967" y="1305704"/>
                    <a:pt x="1072915" y="1305704"/>
                  </a:cubicBezTo>
                  <a:lnTo>
                    <a:pt x="56752" y="1305704"/>
                  </a:lnTo>
                  <a:cubicBezTo>
                    <a:pt x="41700" y="1305704"/>
                    <a:pt x="27265" y="1299725"/>
                    <a:pt x="16622" y="1289082"/>
                  </a:cubicBezTo>
                  <a:cubicBezTo>
                    <a:pt x="5979" y="1278439"/>
                    <a:pt x="0" y="1264004"/>
                    <a:pt x="0" y="1248953"/>
                  </a:cubicBezTo>
                  <a:lnTo>
                    <a:pt x="0" y="56752"/>
                  </a:lnTo>
                  <a:cubicBezTo>
                    <a:pt x="0" y="41700"/>
                    <a:pt x="5979" y="27265"/>
                    <a:pt x="16622" y="16622"/>
                  </a:cubicBezTo>
                  <a:cubicBezTo>
                    <a:pt x="27265" y="5979"/>
                    <a:pt x="41700" y="0"/>
                    <a:pt x="56752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129667" cy="1353329"/>
            </a:xfrm>
            <a:prstGeom prst="rect">
              <a:avLst/>
            </a:prstGeom>
          </p:spPr>
          <p:txBody>
            <a:bodyPr anchor="ctr" rtlCol="false" tIns="64627" lIns="64627" bIns="64627" rIns="64627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320443" y="3443318"/>
            <a:ext cx="4318066" cy="559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600" indent="-164800" lvl="1">
              <a:lnSpc>
                <a:spcPts val="2137"/>
              </a:lnSpc>
              <a:buFont typeface="Arial"/>
              <a:buChar char="•"/>
            </a:pP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emoval of nu</a:t>
            </a: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 values (NaN), ambiguous symbols (e.g., ‘?’), and irrelevant or redundant attributes</a:t>
            </a:r>
          </a:p>
          <a:p>
            <a:pPr algn="l" marL="329600" indent="-164800" lvl="1">
              <a:lnSpc>
                <a:spcPts val="2137"/>
              </a:lnSpc>
              <a:buFont typeface="Arial"/>
              <a:buChar char="•"/>
            </a:pP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 derived binary feature for ‘Weekend vs Weekday, customer type, competitor type</a:t>
            </a:r>
          </a:p>
          <a:p>
            <a:pPr algn="l" marL="329600" indent="-164800" lvl="1">
              <a:lnSpc>
                <a:spcPts val="2137"/>
              </a:lnSpc>
              <a:buFont typeface="Arial"/>
              <a:buChar char="•"/>
            </a:pP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Grouping orders into defined price ranges (below ₹200, between ₹200–₹299, and ₹300 or above) </a:t>
            </a:r>
          </a:p>
          <a:p>
            <a:pPr algn="l" marL="329600" indent="-164800" lvl="1">
              <a:lnSpc>
                <a:spcPts val="2137"/>
              </a:lnSpc>
              <a:buFont typeface="Arial"/>
              <a:buChar char="•"/>
            </a:pP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Filters to isolate true competitors out of 246 listing</a:t>
            </a:r>
          </a:p>
          <a:p>
            <a:pPr algn="l" marL="329600" indent="-164800" lvl="1">
              <a:lnSpc>
                <a:spcPts val="2137"/>
              </a:lnSpc>
              <a:buFont typeface="Arial"/>
              <a:buChar char="•"/>
            </a:pP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Reviews were categorized as positive(&gt;=4), neutral(3), or negative(&lt;=2) based on ratings</a:t>
            </a:r>
          </a:p>
          <a:p>
            <a:pPr algn="l" marL="329600" indent="-164800" lvl="1">
              <a:lnSpc>
                <a:spcPts val="2137"/>
              </a:lnSpc>
              <a:buFont typeface="Arial"/>
              <a:buChar char="•"/>
            </a:pP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Categorized order items into logical groups (Biryani, Combo,Bucket, Starters, Drinks)</a:t>
            </a:r>
          </a:p>
          <a:p>
            <a:pPr algn="l" marL="329600" indent="-164800" lvl="1">
              <a:lnSpc>
                <a:spcPts val="2137"/>
              </a:lnSpc>
              <a:buFont typeface="Arial"/>
              <a:buChar char="•"/>
            </a:pP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Added Lag features based on 7-day, 14-day seasonal cycles in autocorrelation plots</a:t>
            </a:r>
          </a:p>
          <a:p>
            <a:pPr algn="l" marL="329600" indent="-164800" lvl="1">
              <a:lnSpc>
                <a:spcPts val="2137"/>
              </a:lnSpc>
              <a:buFont typeface="Arial"/>
              <a:buChar char="•"/>
            </a:pPr>
            <a:r>
              <a:rPr lang="en-US" sz="152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Log transformation for right skewed variables to control outliers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83642" y="3768372"/>
            <a:ext cx="5680262" cy="1440774"/>
            <a:chOff x="0" y="0"/>
            <a:chExt cx="7573683" cy="1921031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28575"/>
              <a:ext cx="5341664" cy="194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Sales History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C</a:t>
              </a: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ompetitor Dataset 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Detailed Order History 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Customer Reviews</a:t>
              </a: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Other References</a:t>
              </a: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 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913096" y="-28575"/>
              <a:ext cx="3660587" cy="19496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Apr 2</a:t>
              </a: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023 to Feb 2025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-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Sept 2024 to Feb 2025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-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Article &amp; Interviews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20343" y="3288085"/>
            <a:ext cx="9411770" cy="277480"/>
            <a:chOff x="0" y="0"/>
            <a:chExt cx="12549027" cy="36997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2549027" cy="369973"/>
              <a:chOff x="0" y="0"/>
              <a:chExt cx="2471902" cy="7287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471902" cy="72877"/>
              </a:xfrm>
              <a:custGeom>
                <a:avLst/>
                <a:gdLst/>
                <a:ahLst/>
                <a:cxnLst/>
                <a:rect r="r" b="b" t="t" l="l"/>
                <a:pathLst>
                  <a:path h="72877" w="2471902">
                    <a:moveTo>
                      <a:pt x="14023" y="0"/>
                    </a:moveTo>
                    <a:lnTo>
                      <a:pt x="2457879" y="0"/>
                    </a:lnTo>
                    <a:cubicBezTo>
                      <a:pt x="2461598" y="0"/>
                      <a:pt x="2465165" y="1477"/>
                      <a:pt x="2467794" y="4107"/>
                    </a:cubicBezTo>
                    <a:cubicBezTo>
                      <a:pt x="2470424" y="6737"/>
                      <a:pt x="2471902" y="10304"/>
                      <a:pt x="2471902" y="14023"/>
                    </a:cubicBezTo>
                    <a:lnTo>
                      <a:pt x="2471902" y="58854"/>
                    </a:lnTo>
                    <a:cubicBezTo>
                      <a:pt x="2471902" y="62573"/>
                      <a:pt x="2470424" y="66140"/>
                      <a:pt x="2467794" y="68770"/>
                    </a:cubicBezTo>
                    <a:cubicBezTo>
                      <a:pt x="2465165" y="71400"/>
                      <a:pt x="2461598" y="72877"/>
                      <a:pt x="2457879" y="72877"/>
                    </a:cubicBezTo>
                    <a:lnTo>
                      <a:pt x="14023" y="72877"/>
                    </a:lnTo>
                    <a:cubicBezTo>
                      <a:pt x="10304" y="72877"/>
                      <a:pt x="6737" y="71400"/>
                      <a:pt x="4107" y="68770"/>
                    </a:cubicBezTo>
                    <a:cubicBezTo>
                      <a:pt x="1477" y="66140"/>
                      <a:pt x="0" y="62573"/>
                      <a:pt x="0" y="58854"/>
                    </a:cubicBezTo>
                    <a:lnTo>
                      <a:pt x="0" y="14023"/>
                    </a:lnTo>
                    <a:cubicBezTo>
                      <a:pt x="0" y="10304"/>
                      <a:pt x="1477" y="6737"/>
                      <a:pt x="4107" y="4107"/>
                    </a:cubicBezTo>
                    <a:cubicBezTo>
                      <a:pt x="6737" y="1477"/>
                      <a:pt x="10304" y="0"/>
                      <a:pt x="14023" y="0"/>
                    </a:cubicBezTo>
                    <a:close/>
                  </a:path>
                </a:pathLst>
              </a:custGeom>
              <a:solidFill>
                <a:srgbClr val="FBC197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2471902" cy="12050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83102" y="-15465"/>
              <a:ext cx="12182822" cy="353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5"/>
                </a:lnSpc>
                <a:spcBef>
                  <a:spcPct val="0"/>
                </a:spcBef>
              </a:pPr>
              <a:r>
                <a:rPr lang="en-US" sz="1504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  Dataset                                    Timeframe/Type                           Source (#rows, #columns)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7114014" y="3640383"/>
            <a:ext cx="0" cy="15687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4124769" y="3640383"/>
            <a:ext cx="0" cy="15687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1194145" y="413357"/>
            <a:ext cx="984245" cy="1129693"/>
          </a:xfrm>
          <a:custGeom>
            <a:avLst/>
            <a:gdLst/>
            <a:ahLst/>
            <a:cxnLst/>
            <a:rect r="r" b="b" t="t" l="l"/>
            <a:pathLst>
              <a:path h="1129693" w="984245">
                <a:moveTo>
                  <a:pt x="0" y="0"/>
                </a:moveTo>
                <a:lnTo>
                  <a:pt x="984245" y="0"/>
                </a:lnTo>
                <a:lnTo>
                  <a:pt x="984245" y="1129693"/>
                </a:lnTo>
                <a:lnTo>
                  <a:pt x="0" y="11296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936032">
            <a:off x="599591" y="621041"/>
            <a:ext cx="858218" cy="1479686"/>
          </a:xfrm>
          <a:custGeom>
            <a:avLst/>
            <a:gdLst/>
            <a:ahLst/>
            <a:cxnLst/>
            <a:rect r="r" b="b" t="t" l="l"/>
            <a:pathLst>
              <a:path h="1479686" w="858218">
                <a:moveTo>
                  <a:pt x="0" y="0"/>
                </a:moveTo>
                <a:lnTo>
                  <a:pt x="858218" y="0"/>
                </a:lnTo>
                <a:lnTo>
                  <a:pt x="858218" y="1479686"/>
                </a:lnTo>
                <a:lnTo>
                  <a:pt x="0" y="1479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1174870">
            <a:off x="943067" y="642053"/>
            <a:ext cx="1597694" cy="1539777"/>
          </a:xfrm>
          <a:custGeom>
            <a:avLst/>
            <a:gdLst/>
            <a:ahLst/>
            <a:cxnLst/>
            <a:rect r="r" b="b" t="t" l="l"/>
            <a:pathLst>
              <a:path h="1539777" w="1597694">
                <a:moveTo>
                  <a:pt x="0" y="0"/>
                </a:moveTo>
                <a:lnTo>
                  <a:pt x="1597694" y="0"/>
                </a:lnTo>
                <a:lnTo>
                  <a:pt x="1597694" y="1539777"/>
                </a:lnTo>
                <a:lnTo>
                  <a:pt x="0" y="1539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273405" y="7887043"/>
            <a:ext cx="1868843" cy="2163639"/>
          </a:xfrm>
          <a:custGeom>
            <a:avLst/>
            <a:gdLst/>
            <a:ahLst/>
            <a:cxnLst/>
            <a:rect r="r" b="b" t="t" l="l"/>
            <a:pathLst>
              <a:path h="2163639" w="1868843">
                <a:moveTo>
                  <a:pt x="0" y="0"/>
                </a:moveTo>
                <a:lnTo>
                  <a:pt x="1868843" y="0"/>
                </a:lnTo>
                <a:lnTo>
                  <a:pt x="1868843" y="2163639"/>
                </a:lnTo>
                <a:lnTo>
                  <a:pt x="0" y="2163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2717958" y="851036"/>
            <a:ext cx="7762875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Ingredients That</a:t>
            </a:r>
            <a:r>
              <a:rPr lang="en-US" sz="5499" b="true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Shape The Future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89920" y="3011033"/>
            <a:ext cx="482649" cy="25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01.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20343" y="2779949"/>
            <a:ext cx="239523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D5544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Data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89920" y="5914915"/>
            <a:ext cx="482649" cy="257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sz="19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02.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20343" y="5742545"/>
            <a:ext cx="4705885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D5544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Analysis Methods &amp; Objectives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371524" y="3768372"/>
            <a:ext cx="5957016" cy="1736049"/>
            <a:chOff x="0" y="0"/>
            <a:chExt cx="7942688" cy="2314731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-28575"/>
              <a:ext cx="7942688" cy="2343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Zomato Merchant Dashboard  (3317, 35)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Web Search results (246, 13)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Zomato Customer Care (1081,29)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Zomato Merchant Dashboard (47,2)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questionofcities.org, Owner &amp; Staffs,</a:t>
              </a:r>
            </a:p>
            <a:p>
              <a:pPr algn="l">
                <a:lnSpc>
                  <a:spcPts val="2382"/>
                </a:lnSpc>
              </a:pPr>
              <a:r>
                <a:rPr lang="en-US" sz="1752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College schedule, Swiggy guidelines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3458047" y="-28575"/>
              <a:ext cx="3234902" cy="374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2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583642" y="6293725"/>
            <a:ext cx="9776959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Time Se</a:t>
            </a: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ries Analysis - Understanding declining engagement, observe sales trends and weekend order peaks, while improving Operational efficiency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Menu Analysis - Optimize menu bundling and promotional decisions to improve average order value (AOV)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Customer Retention &amp; Sentiment Analysis - Analyze customer spending patterns and pain points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Competitor Analysis - To understand broader market landscape and current positioning</a:t>
            </a:r>
          </a:p>
          <a:p>
            <a:pPr algn="l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Digital Performance Analysis - To understand digital storefront performance &amp; brand image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26534" y="3082638"/>
            <a:ext cx="4705885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Clean and Chop Chop!!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22753" y="109987"/>
            <a:ext cx="143097" cy="3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36188">
            <a:off x="510069" y="120708"/>
            <a:ext cx="836598" cy="667757"/>
          </a:xfrm>
          <a:custGeom>
            <a:avLst/>
            <a:gdLst/>
            <a:ahLst/>
            <a:cxnLst/>
            <a:rect r="r" b="b" t="t" l="l"/>
            <a:pathLst>
              <a:path h="667757" w="836598">
                <a:moveTo>
                  <a:pt x="0" y="0"/>
                </a:moveTo>
                <a:lnTo>
                  <a:pt x="836598" y="0"/>
                </a:lnTo>
                <a:lnTo>
                  <a:pt x="836598" y="667757"/>
                </a:lnTo>
                <a:lnTo>
                  <a:pt x="0" y="667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52649" y="5751483"/>
            <a:ext cx="7650602" cy="3796611"/>
          </a:xfrm>
          <a:custGeom>
            <a:avLst/>
            <a:gdLst/>
            <a:ahLst/>
            <a:cxnLst/>
            <a:rect r="r" b="b" t="t" l="l"/>
            <a:pathLst>
              <a:path h="3796611" w="7650602">
                <a:moveTo>
                  <a:pt x="0" y="0"/>
                </a:moveTo>
                <a:lnTo>
                  <a:pt x="7650602" y="0"/>
                </a:lnTo>
                <a:lnTo>
                  <a:pt x="7650602" y="3796611"/>
                </a:lnTo>
                <a:lnTo>
                  <a:pt x="0" y="3796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75168" y="4273271"/>
            <a:ext cx="3990950" cy="2361991"/>
          </a:xfrm>
          <a:custGeom>
            <a:avLst/>
            <a:gdLst/>
            <a:ahLst/>
            <a:cxnLst/>
            <a:rect r="r" b="b" t="t" l="l"/>
            <a:pathLst>
              <a:path h="2361991" w="3990950">
                <a:moveTo>
                  <a:pt x="0" y="0"/>
                </a:moveTo>
                <a:lnTo>
                  <a:pt x="3990950" y="0"/>
                </a:lnTo>
                <a:lnTo>
                  <a:pt x="3990950" y="2361990"/>
                </a:lnTo>
                <a:lnTo>
                  <a:pt x="0" y="23619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74789" y="7138277"/>
            <a:ext cx="4063205" cy="2279167"/>
          </a:xfrm>
          <a:custGeom>
            <a:avLst/>
            <a:gdLst/>
            <a:ahLst/>
            <a:cxnLst/>
            <a:rect r="r" b="b" t="t" l="l"/>
            <a:pathLst>
              <a:path h="2279167" w="4063205">
                <a:moveTo>
                  <a:pt x="0" y="0"/>
                </a:moveTo>
                <a:lnTo>
                  <a:pt x="4063205" y="0"/>
                </a:lnTo>
                <a:lnTo>
                  <a:pt x="4063205" y="2279167"/>
                </a:lnTo>
                <a:lnTo>
                  <a:pt x="0" y="22791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74789" y="1701296"/>
            <a:ext cx="3857924" cy="2283261"/>
          </a:xfrm>
          <a:custGeom>
            <a:avLst/>
            <a:gdLst/>
            <a:ahLst/>
            <a:cxnLst/>
            <a:rect r="r" b="b" t="t" l="l"/>
            <a:pathLst>
              <a:path h="2283261" w="3857924">
                <a:moveTo>
                  <a:pt x="0" y="0"/>
                </a:moveTo>
                <a:lnTo>
                  <a:pt x="3857924" y="0"/>
                </a:lnTo>
                <a:lnTo>
                  <a:pt x="3857924" y="2283262"/>
                </a:lnTo>
                <a:lnTo>
                  <a:pt x="0" y="2283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46121" y="1028700"/>
            <a:ext cx="4943272" cy="8835036"/>
            <a:chOff x="0" y="0"/>
            <a:chExt cx="6591030" cy="11780048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591030" cy="11780048"/>
              <a:chOff x="0" y="0"/>
              <a:chExt cx="858430" cy="1534259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58430" cy="1534259"/>
              </a:xfrm>
              <a:custGeom>
                <a:avLst/>
                <a:gdLst/>
                <a:ahLst/>
                <a:cxnLst/>
                <a:rect r="r" b="b" t="t" l="l"/>
                <a:pathLst>
                  <a:path h="1534259" w="858430">
                    <a:moveTo>
                      <a:pt x="120249" y="0"/>
                    </a:moveTo>
                    <a:lnTo>
                      <a:pt x="738181" y="0"/>
                    </a:lnTo>
                    <a:cubicBezTo>
                      <a:pt x="770073" y="0"/>
                      <a:pt x="800659" y="12669"/>
                      <a:pt x="823210" y="35220"/>
                    </a:cubicBezTo>
                    <a:cubicBezTo>
                      <a:pt x="845761" y="57771"/>
                      <a:pt x="858430" y="88357"/>
                      <a:pt x="858430" y="120249"/>
                    </a:cubicBezTo>
                    <a:lnTo>
                      <a:pt x="858430" y="1414010"/>
                    </a:lnTo>
                    <a:cubicBezTo>
                      <a:pt x="858430" y="1480422"/>
                      <a:pt x="804593" y="1534259"/>
                      <a:pt x="738181" y="1534259"/>
                    </a:cubicBezTo>
                    <a:lnTo>
                      <a:pt x="120249" y="1534259"/>
                    </a:lnTo>
                    <a:cubicBezTo>
                      <a:pt x="53837" y="1534259"/>
                      <a:pt x="0" y="1480422"/>
                      <a:pt x="0" y="1414010"/>
                    </a:cubicBezTo>
                    <a:lnTo>
                      <a:pt x="0" y="120249"/>
                    </a:lnTo>
                    <a:cubicBezTo>
                      <a:pt x="0" y="53837"/>
                      <a:pt x="53837" y="0"/>
                      <a:pt x="120249" y="0"/>
                    </a:cubicBezTo>
                    <a:close/>
                  </a:path>
                </a:pathLst>
              </a:custGeom>
              <a:solidFill>
                <a:srgbClr val="FF5757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858430" cy="15818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96514" y="1047575"/>
              <a:ext cx="6212602" cy="1866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48341" indent="-124171" lvl="1">
                <a:lnSpc>
                  <a:spcPts val="1610"/>
                </a:lnSpc>
                <a:buFont typeface="Arial"/>
                <a:buChar char="•"/>
              </a:pPr>
              <a:r>
                <a:rPr lang="en-US" sz="115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Business stagnation: Current performance is not as strong as during the 2023 opening.</a:t>
              </a:r>
            </a:p>
            <a:p>
              <a:pPr algn="l" marL="248341" indent="-124171" lvl="1">
                <a:lnSpc>
                  <a:spcPts val="1610"/>
                </a:lnSpc>
                <a:buFont typeface="Arial"/>
                <a:buChar char="•"/>
              </a:pPr>
              <a:r>
                <a:rPr lang="en-US" sz="115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Seasonal impact: December is the worst performing month due to the Ayyapan season.</a:t>
              </a:r>
            </a:p>
            <a:p>
              <a:pPr algn="l" marL="248341" indent="-124171" lvl="1">
                <a:lnSpc>
                  <a:spcPts val="1610"/>
                </a:lnSpc>
                <a:buFont typeface="Arial"/>
                <a:buChar char="•"/>
              </a:pPr>
              <a:r>
                <a:rPr lang="en-US" sz="115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Weekly trend: Sunday consistently shows higher business activity and is a busy day.</a:t>
              </a:r>
            </a:p>
            <a:p>
              <a:pPr algn="ctr">
                <a:lnSpc>
                  <a:spcPts val="1610"/>
                </a:lnSpc>
                <a:spcBef>
                  <a:spcPct val="0"/>
                </a:spcBef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60895" y="453472"/>
              <a:ext cx="6191616" cy="484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15"/>
                </a:lnSpc>
                <a:spcBef>
                  <a:spcPct val="0"/>
                </a:spcBef>
              </a:pPr>
              <a:r>
                <a:rPr lang="en-US" b="true" sz="2153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01. Assumptions/Beleifs by Owner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773627"/>
              <a:ext cx="4502636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02. Key Observations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0233" y="3390382"/>
              <a:ext cx="6152278" cy="3611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30168" indent="-115084" lvl="1">
                <a:lnSpc>
                  <a:spcPts val="1492"/>
                </a:lnSpc>
                <a:buFont typeface="Arial"/>
                <a:buChar char="•"/>
              </a:pPr>
              <a:r>
                <a:rPr lang="en-US" sz="1066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Sales</a:t>
              </a:r>
              <a:r>
                <a:rPr lang="en-US" sz="1066" strike="noStrike" u="none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-US" sz="1066" strike="noStrike" u="none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stabilization and growth: Sales began stabilizing from April 2023 and displayed consistent growth throughout 2024, with average monthly revenue about 40% higher than in 2023.</a:t>
              </a:r>
            </a:p>
            <a:p>
              <a:pPr algn="l" marL="230168" indent="-115084" lvl="1">
                <a:lnSpc>
                  <a:spcPts val="1492"/>
                </a:lnSpc>
                <a:buFont typeface="Arial"/>
                <a:buChar char="•"/>
              </a:pPr>
              <a:r>
                <a:rPr lang="en-US" sz="1066" strike="noStrike" u="none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Recurring sales pattern: A three-month cycle is visible, where sales typically rise for three consecutive months before dipping.</a:t>
              </a:r>
            </a:p>
            <a:p>
              <a:pPr algn="l" marL="230168" indent="-115084" lvl="1">
                <a:lnSpc>
                  <a:spcPts val="1492"/>
                </a:lnSpc>
                <a:buFont typeface="Arial"/>
                <a:buChar char="•"/>
              </a:pPr>
              <a:r>
                <a:rPr lang="en-US" sz="1066" strike="noStrike" u="none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2023 baseline: The moving average hovers around ~30k, reflecting modest and uneven performance.</a:t>
              </a:r>
            </a:p>
            <a:p>
              <a:pPr algn="l" marL="230168" indent="-115084" lvl="1">
                <a:lnSpc>
                  <a:spcPts val="1492"/>
                </a:lnSpc>
                <a:buFont typeface="Arial"/>
                <a:buChar char="•"/>
              </a:pPr>
              <a:r>
                <a:rPr lang="en-US" sz="1066" strike="noStrike" u="none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2024 uplift: The average line jumps sharply upward, stabilizing around ~42k–45k, confirming a structural shift.</a:t>
              </a:r>
            </a:p>
            <a:p>
              <a:pPr algn="l" marL="230168" indent="-115084" lvl="1">
                <a:lnSpc>
                  <a:spcPts val="1492"/>
                </a:lnSpc>
                <a:buFont typeface="Arial"/>
                <a:buChar char="•"/>
              </a:pPr>
              <a:r>
                <a:rPr lang="en-US" sz="1066" strike="noStrike" u="none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Weekend dynamics: Weekends show higher Average Order Value (AOV) but fewer total sales.</a:t>
              </a:r>
            </a:p>
            <a:p>
              <a:pPr algn="l" marL="230168" indent="-115084" lvl="1">
                <a:lnSpc>
                  <a:spcPts val="1492"/>
                </a:lnSpc>
                <a:buFont typeface="Arial"/>
                <a:buChar char="•"/>
              </a:pPr>
              <a:r>
                <a:rPr lang="en-US" sz="1066" strike="noStrike" u="none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Bill value stability: Bill values remain stable throughout the year, indicating reliable customer spending habits</a:t>
              </a:r>
            </a:p>
            <a:p>
              <a:pPr algn="l" marL="230168" indent="-115084" lvl="1">
                <a:lnSpc>
                  <a:spcPts val="1492"/>
                </a:lnSpc>
                <a:buFont typeface="Arial"/>
                <a:buChar char="•"/>
              </a:pPr>
              <a:r>
                <a:rPr lang="en-US" sz="1066" strike="noStrike" u="none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Higher Outliers: Second half of the year has more outliers</a:t>
              </a:r>
            </a:p>
            <a:p>
              <a:pPr algn="l">
                <a:lnSpc>
                  <a:spcPts val="1492"/>
                </a:lnSpc>
                <a:spcBef>
                  <a:spcPct val="0"/>
                </a:spcBef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669483"/>
              <a:ext cx="2957167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03. Insights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35627" y="7220732"/>
              <a:ext cx="6455402" cy="4178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9080" indent="-129540" lvl="1">
                <a:lnSpc>
                  <a:spcPts val="1679"/>
                </a:lnSpc>
                <a:buAutoNum type="arabicPeriod" startAt="1"/>
              </a:pPr>
              <a:r>
                <a:rPr lang="en-US" b="true" sz="12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Seasonal dips explained:</a:t>
              </a: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The dip in June and December aligns with college closures rather than festive reasons.</a:t>
              </a:r>
            </a:p>
            <a:p>
              <a:pPr algn="l" marL="259080" indent="-129540" lvl="1">
                <a:lnSpc>
                  <a:spcPts val="1679"/>
                </a:lnSpc>
                <a:buAutoNum type="arabicPeriod" startAt="1"/>
              </a:pPr>
              <a:r>
                <a:rPr lang="en-US" b="true" sz="12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Performance uplift:</a:t>
              </a: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An “average” month in 2024 outperformed the best month of 2023, showing business definitely stepped up and avoided uneven performance.</a:t>
              </a:r>
            </a:p>
            <a:p>
              <a:pPr algn="l" marL="259080" indent="-129540" lvl="1">
                <a:lnSpc>
                  <a:spcPts val="1679"/>
                </a:lnSpc>
                <a:buAutoNum type="arabicPeriod" startAt="1"/>
              </a:pP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-US" b="true" sz="12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Stable bill values: </a:t>
              </a: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This stability means growth is more volume‑driven than ticket‑size driven, pointing to opportunities in increasing orders rather than upselling.</a:t>
              </a:r>
            </a:p>
            <a:p>
              <a:pPr algn="l" marL="259080" indent="-129540" lvl="1">
                <a:lnSpc>
                  <a:spcPts val="1679"/>
                </a:lnSpc>
                <a:buAutoNum type="arabicPeriod" startAt="1"/>
              </a:pPr>
              <a:r>
                <a:rPr lang="en-US" b="true" sz="12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Weekend traction: </a:t>
              </a: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Sundays show particularly high traction. This could be leveraged by adding extended operating hours, Sunday-special offers, or unique experiences to attract more spending, especially from families and bulk orders.</a:t>
              </a:r>
            </a:p>
            <a:p>
              <a:pPr algn="l" marL="259080" indent="-129540" lvl="1">
                <a:lnSpc>
                  <a:spcPts val="1679"/>
                </a:lnSpc>
                <a:spcBef>
                  <a:spcPct val="0"/>
                </a:spcBef>
                <a:buAutoNum type="arabicPeriod" startAt="1"/>
              </a:pPr>
              <a:r>
                <a:rPr lang="en-US" b="true" sz="12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Customer segmentation by day:</a:t>
              </a: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Weekends tend to attract families, while weekdays are more popular among students and professionals.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99543" y="1823802"/>
            <a:ext cx="7315795" cy="3630463"/>
            <a:chOff x="0" y="0"/>
            <a:chExt cx="9754394" cy="48406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54394" cy="4840618"/>
            </a:xfrm>
            <a:custGeom>
              <a:avLst/>
              <a:gdLst/>
              <a:ahLst/>
              <a:cxnLst/>
              <a:rect r="r" b="b" t="t" l="l"/>
              <a:pathLst>
                <a:path h="4840618" w="9754394">
                  <a:moveTo>
                    <a:pt x="0" y="0"/>
                  </a:moveTo>
                  <a:lnTo>
                    <a:pt x="9754394" y="0"/>
                  </a:lnTo>
                  <a:lnTo>
                    <a:pt x="9754394" y="4840618"/>
                  </a:lnTo>
                  <a:lnTo>
                    <a:pt x="0" y="4840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041439" y="340316"/>
              <a:ext cx="2998771" cy="232819"/>
            </a:xfrm>
            <a:custGeom>
              <a:avLst/>
              <a:gdLst/>
              <a:ahLst/>
              <a:cxnLst/>
              <a:rect r="r" b="b" t="t" l="l"/>
              <a:pathLst>
                <a:path h="232819" w="2998771">
                  <a:moveTo>
                    <a:pt x="0" y="0"/>
                  </a:moveTo>
                  <a:lnTo>
                    <a:pt x="2998771" y="0"/>
                  </a:lnTo>
                  <a:lnTo>
                    <a:pt x="2998771" y="232819"/>
                  </a:lnTo>
                  <a:lnTo>
                    <a:pt x="0" y="232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76058" r="-34096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433640" y="2285095"/>
              <a:ext cx="3160861" cy="225776"/>
            </a:xfrm>
            <a:custGeom>
              <a:avLst/>
              <a:gdLst/>
              <a:ahLst/>
              <a:cxnLst/>
              <a:rect r="r" b="b" t="t" l="l"/>
              <a:pathLst>
                <a:path h="225776" w="3160861">
                  <a:moveTo>
                    <a:pt x="0" y="0"/>
                  </a:moveTo>
                  <a:lnTo>
                    <a:pt x="3160861" y="0"/>
                  </a:lnTo>
                  <a:lnTo>
                    <a:pt x="3160861" y="225776"/>
                  </a:lnTo>
                  <a:lnTo>
                    <a:pt x="0" y="22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8530832">
              <a:off x="6231730" y="801577"/>
              <a:ext cx="763984" cy="302816"/>
            </a:xfrm>
            <a:custGeom>
              <a:avLst/>
              <a:gdLst/>
              <a:ahLst/>
              <a:cxnLst/>
              <a:rect r="r" b="b" t="t" l="l"/>
              <a:pathLst>
                <a:path h="302816" w="763984">
                  <a:moveTo>
                    <a:pt x="0" y="0"/>
                  </a:moveTo>
                  <a:lnTo>
                    <a:pt x="763984" y="0"/>
                  </a:lnTo>
                  <a:lnTo>
                    <a:pt x="763984" y="302816"/>
                  </a:lnTo>
                  <a:lnTo>
                    <a:pt x="0" y="302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-2785714">
              <a:off x="8154476" y="1622862"/>
              <a:ext cx="793377" cy="314466"/>
            </a:xfrm>
            <a:custGeom>
              <a:avLst/>
              <a:gdLst/>
              <a:ahLst/>
              <a:cxnLst/>
              <a:rect r="r" b="b" t="t" l="l"/>
              <a:pathLst>
                <a:path h="314466" w="793377">
                  <a:moveTo>
                    <a:pt x="0" y="0"/>
                  </a:moveTo>
                  <a:lnTo>
                    <a:pt x="793377" y="0"/>
                  </a:lnTo>
                  <a:lnTo>
                    <a:pt x="793377" y="314465"/>
                  </a:lnTo>
                  <a:lnTo>
                    <a:pt x="0" y="314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1182857">
              <a:off x="6283236" y="772271"/>
              <a:ext cx="53265" cy="1220667"/>
            </a:xfrm>
            <a:custGeom>
              <a:avLst/>
              <a:gdLst/>
              <a:ahLst/>
              <a:cxnLst/>
              <a:rect r="r" b="b" t="t" l="l"/>
              <a:pathLst>
                <a:path h="1220667" w="53265">
                  <a:moveTo>
                    <a:pt x="0" y="0"/>
                  </a:moveTo>
                  <a:lnTo>
                    <a:pt x="53265" y="0"/>
                  </a:lnTo>
                  <a:lnTo>
                    <a:pt x="53265" y="1220667"/>
                  </a:lnTo>
                  <a:lnTo>
                    <a:pt x="0" y="1220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-1302753">
              <a:off x="8674192" y="420553"/>
              <a:ext cx="46467" cy="1064864"/>
            </a:xfrm>
            <a:custGeom>
              <a:avLst/>
              <a:gdLst/>
              <a:ahLst/>
              <a:cxnLst/>
              <a:rect r="r" b="b" t="t" l="l"/>
              <a:pathLst>
                <a:path h="1064864" w="46467">
                  <a:moveTo>
                    <a:pt x="0" y="0"/>
                  </a:moveTo>
                  <a:lnTo>
                    <a:pt x="46467" y="0"/>
                  </a:lnTo>
                  <a:lnTo>
                    <a:pt x="46467" y="1064864"/>
                  </a:lnTo>
                  <a:lnTo>
                    <a:pt x="0" y="1064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5" id="25"/>
            <p:cNvGrpSpPr/>
            <p:nvPr/>
          </p:nvGrpSpPr>
          <p:grpSpPr>
            <a:xfrm rot="0">
              <a:off x="5244920" y="1580245"/>
              <a:ext cx="464820" cy="311150"/>
              <a:chOff x="0" y="0"/>
              <a:chExt cx="464820" cy="31115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50800" y="50503"/>
                <a:ext cx="363912" cy="210158"/>
              </a:xfrm>
              <a:custGeom>
                <a:avLst/>
                <a:gdLst/>
                <a:ahLst/>
                <a:cxnLst/>
                <a:rect r="r" b="b" t="t" l="l"/>
                <a:pathLst>
                  <a:path h="210158" w="363912">
                    <a:moveTo>
                      <a:pt x="0" y="162857"/>
                    </a:moveTo>
                    <a:cubicBezTo>
                      <a:pt x="316230" y="28237"/>
                      <a:pt x="331470" y="-3513"/>
                      <a:pt x="344170" y="297"/>
                    </a:cubicBezTo>
                    <a:cubicBezTo>
                      <a:pt x="354330" y="2837"/>
                      <a:pt x="367030" y="33317"/>
                      <a:pt x="363220" y="47287"/>
                    </a:cubicBezTo>
                    <a:cubicBezTo>
                      <a:pt x="358140" y="63797"/>
                      <a:pt x="336550" y="75227"/>
                      <a:pt x="309880" y="90467"/>
                    </a:cubicBezTo>
                    <a:cubicBezTo>
                      <a:pt x="252730" y="124757"/>
                      <a:pt x="64770" y="223817"/>
                      <a:pt x="22860" y="208577"/>
                    </a:cubicBezTo>
                    <a:cubicBezTo>
                      <a:pt x="6350" y="202227"/>
                      <a:pt x="0" y="162857"/>
                      <a:pt x="0" y="162857"/>
                    </a:cubicBezTo>
                  </a:path>
                </a:pathLst>
              </a:custGeom>
              <a:solidFill>
                <a:srgbClr val="4557A7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5210630" y="573135"/>
              <a:ext cx="1198880" cy="1380490"/>
              <a:chOff x="0" y="0"/>
              <a:chExt cx="1198880" cy="138049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45361" y="41194"/>
                <a:ext cx="1105994" cy="1304241"/>
              </a:xfrm>
              <a:custGeom>
                <a:avLst/>
                <a:gdLst/>
                <a:ahLst/>
                <a:cxnLst/>
                <a:rect r="r" b="b" t="t" l="l"/>
                <a:pathLst>
                  <a:path h="1304241" w="1105994">
                    <a:moveTo>
                      <a:pt x="5439" y="904956"/>
                    </a:moveTo>
                    <a:cubicBezTo>
                      <a:pt x="468989" y="732236"/>
                      <a:pt x="574399" y="74376"/>
                      <a:pt x="745849" y="9606"/>
                    </a:cubicBezTo>
                    <a:cubicBezTo>
                      <a:pt x="855069" y="-31034"/>
                      <a:pt x="1073509" y="65486"/>
                      <a:pt x="1102719" y="145496"/>
                    </a:cubicBezTo>
                    <a:cubicBezTo>
                      <a:pt x="1131929" y="230586"/>
                      <a:pt x="957939" y="390606"/>
                      <a:pt x="889359" y="517606"/>
                    </a:cubicBezTo>
                    <a:cubicBezTo>
                      <a:pt x="818239" y="649686"/>
                      <a:pt x="748389" y="816056"/>
                      <a:pt x="683619" y="922736"/>
                    </a:cubicBezTo>
                    <a:cubicBezTo>
                      <a:pt x="637899" y="997666"/>
                      <a:pt x="606149" y="1053546"/>
                      <a:pt x="551539" y="1105616"/>
                    </a:cubicBezTo>
                    <a:cubicBezTo>
                      <a:pt x="494389" y="1160226"/>
                      <a:pt x="425809" y="1211026"/>
                      <a:pt x="345799" y="1241506"/>
                    </a:cubicBezTo>
                    <a:cubicBezTo>
                      <a:pt x="258169" y="1275796"/>
                      <a:pt x="101959" y="1332946"/>
                      <a:pt x="43539" y="1287226"/>
                    </a:cubicBezTo>
                    <a:cubicBezTo>
                      <a:pt x="-21231" y="1236426"/>
                      <a:pt x="5439" y="904956"/>
                      <a:pt x="5439" y="904956"/>
                    </a:cubicBezTo>
                  </a:path>
                </a:pathLst>
              </a:custGeom>
              <a:solidFill>
                <a:srgbClr val="4557A7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6417130" y="730615"/>
              <a:ext cx="1182370" cy="1445260"/>
              <a:chOff x="0" y="0"/>
              <a:chExt cx="1182370" cy="144526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50800" y="50341"/>
                <a:ext cx="1080797" cy="1344123"/>
              </a:xfrm>
              <a:custGeom>
                <a:avLst/>
                <a:gdLst/>
                <a:ahLst/>
                <a:cxnLst/>
                <a:rect r="r" b="b" t="t" l="l"/>
                <a:pathLst>
                  <a:path h="1344123" w="1080797">
                    <a:moveTo>
                      <a:pt x="0" y="1071069"/>
                    </a:moveTo>
                    <a:cubicBezTo>
                      <a:pt x="93980" y="961849"/>
                      <a:pt x="195580" y="753569"/>
                      <a:pt x="245110" y="651969"/>
                    </a:cubicBezTo>
                    <a:cubicBezTo>
                      <a:pt x="278130" y="582119"/>
                      <a:pt x="290830" y="535129"/>
                      <a:pt x="322580" y="474169"/>
                    </a:cubicBezTo>
                    <a:cubicBezTo>
                      <a:pt x="358140" y="408129"/>
                      <a:pt x="401320" y="333199"/>
                      <a:pt x="448310" y="269699"/>
                    </a:cubicBezTo>
                    <a:cubicBezTo>
                      <a:pt x="495300" y="207469"/>
                      <a:pt x="547370" y="142699"/>
                      <a:pt x="604520" y="96979"/>
                    </a:cubicBezTo>
                    <a:cubicBezTo>
                      <a:pt x="655320" y="55069"/>
                      <a:pt x="765810" y="-5891"/>
                      <a:pt x="772160" y="459"/>
                    </a:cubicBezTo>
                    <a:cubicBezTo>
                      <a:pt x="774700" y="2999"/>
                      <a:pt x="751840" y="16969"/>
                      <a:pt x="754380" y="27129"/>
                    </a:cubicBezTo>
                    <a:cubicBezTo>
                      <a:pt x="763270" y="66499"/>
                      <a:pt x="1075690" y="175719"/>
                      <a:pt x="1080770" y="225249"/>
                    </a:cubicBezTo>
                    <a:cubicBezTo>
                      <a:pt x="1082040" y="250649"/>
                      <a:pt x="1037590" y="267159"/>
                      <a:pt x="1005840" y="290019"/>
                    </a:cubicBezTo>
                    <a:cubicBezTo>
                      <a:pt x="958850" y="324309"/>
                      <a:pt x="869950" y="352249"/>
                      <a:pt x="820420" y="400509"/>
                    </a:cubicBezTo>
                    <a:cubicBezTo>
                      <a:pt x="770890" y="448769"/>
                      <a:pt x="754380" y="497029"/>
                      <a:pt x="707390" y="577039"/>
                    </a:cubicBezTo>
                    <a:cubicBezTo>
                      <a:pt x="614680" y="734519"/>
                      <a:pt x="384810" y="1196799"/>
                      <a:pt x="316230" y="1294589"/>
                    </a:cubicBezTo>
                    <a:cubicBezTo>
                      <a:pt x="297180" y="1322529"/>
                      <a:pt x="293370" y="1342849"/>
                      <a:pt x="271780" y="1344119"/>
                    </a:cubicBezTo>
                    <a:cubicBezTo>
                      <a:pt x="220980" y="1345389"/>
                      <a:pt x="0" y="1071069"/>
                      <a:pt x="0" y="1071069"/>
                    </a:cubicBezTo>
                  </a:path>
                </a:pathLst>
              </a:custGeom>
              <a:solidFill>
                <a:srgbClr val="4557A7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1" id="31"/>
            <p:cNvGrpSpPr/>
            <p:nvPr/>
          </p:nvGrpSpPr>
          <p:grpSpPr>
            <a:xfrm rot="0">
              <a:off x="6373950" y="1765665"/>
              <a:ext cx="414020" cy="443230"/>
              <a:chOff x="0" y="0"/>
              <a:chExt cx="414020" cy="44323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50800" y="56662"/>
                <a:ext cx="312424" cy="336113"/>
              </a:xfrm>
              <a:custGeom>
                <a:avLst/>
                <a:gdLst/>
                <a:ahLst/>
                <a:cxnLst/>
                <a:rect r="r" b="b" t="t" l="l"/>
                <a:pathLst>
                  <a:path h="336113" w="312424">
                    <a:moveTo>
                      <a:pt x="0" y="15728"/>
                    </a:moveTo>
                    <a:cubicBezTo>
                      <a:pt x="33020" y="-4592"/>
                      <a:pt x="25400" y="-782"/>
                      <a:pt x="25400" y="3028"/>
                    </a:cubicBezTo>
                    <a:cubicBezTo>
                      <a:pt x="29210" y="30968"/>
                      <a:pt x="313690" y="193528"/>
                      <a:pt x="312420" y="254488"/>
                    </a:cubicBezTo>
                    <a:cubicBezTo>
                      <a:pt x="312420" y="288778"/>
                      <a:pt x="250190" y="340848"/>
                      <a:pt x="214630" y="335768"/>
                    </a:cubicBezTo>
                    <a:cubicBezTo>
                      <a:pt x="152400" y="325608"/>
                      <a:pt x="0" y="15728"/>
                      <a:pt x="0" y="15728"/>
                    </a:cubicBezTo>
                  </a:path>
                </a:pathLst>
              </a:custGeom>
              <a:solidFill>
                <a:srgbClr val="4557A7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7478850" y="180705"/>
              <a:ext cx="1198880" cy="1329690"/>
              <a:chOff x="0" y="0"/>
              <a:chExt cx="1198880" cy="132969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50800" y="44898"/>
                <a:ext cx="1097280" cy="1232761"/>
              </a:xfrm>
              <a:custGeom>
                <a:avLst/>
                <a:gdLst/>
                <a:ahLst/>
                <a:cxnLst/>
                <a:rect r="r" b="b" t="t" l="l"/>
                <a:pathLst>
                  <a:path h="1232761" w="1097280">
                    <a:moveTo>
                      <a:pt x="0" y="960942"/>
                    </a:moveTo>
                    <a:cubicBezTo>
                      <a:pt x="127000" y="823782"/>
                      <a:pt x="228600" y="647252"/>
                      <a:pt x="323850" y="539302"/>
                    </a:cubicBezTo>
                    <a:cubicBezTo>
                      <a:pt x="417830" y="431352"/>
                      <a:pt x="549910" y="322132"/>
                      <a:pt x="636270" y="244662"/>
                    </a:cubicBezTo>
                    <a:cubicBezTo>
                      <a:pt x="693420" y="191322"/>
                      <a:pt x="723900" y="153222"/>
                      <a:pt x="784860" y="116392"/>
                    </a:cubicBezTo>
                    <a:cubicBezTo>
                      <a:pt x="857250" y="70672"/>
                      <a:pt x="996950" y="-24578"/>
                      <a:pt x="1047750" y="5902"/>
                    </a:cubicBezTo>
                    <a:cubicBezTo>
                      <a:pt x="1106170" y="42732"/>
                      <a:pt x="1050290" y="374202"/>
                      <a:pt x="1074420" y="386902"/>
                    </a:cubicBezTo>
                    <a:cubicBezTo>
                      <a:pt x="1080770" y="389442"/>
                      <a:pt x="1097280" y="372932"/>
                      <a:pt x="1097280" y="372932"/>
                    </a:cubicBezTo>
                    <a:cubicBezTo>
                      <a:pt x="1097280" y="374202"/>
                      <a:pt x="975360" y="449132"/>
                      <a:pt x="905510" y="505012"/>
                    </a:cubicBezTo>
                    <a:cubicBezTo>
                      <a:pt x="810260" y="582482"/>
                      <a:pt x="661670" y="712022"/>
                      <a:pt x="586740" y="804732"/>
                    </a:cubicBezTo>
                    <a:cubicBezTo>
                      <a:pt x="534670" y="870772"/>
                      <a:pt x="521970" y="927922"/>
                      <a:pt x="476250" y="992692"/>
                    </a:cubicBezTo>
                    <a:cubicBezTo>
                      <a:pt x="420370" y="1070162"/>
                      <a:pt x="346710" y="1230182"/>
                      <a:pt x="271780" y="1232722"/>
                    </a:cubicBezTo>
                    <a:cubicBezTo>
                      <a:pt x="189230" y="1236532"/>
                      <a:pt x="0" y="960942"/>
                      <a:pt x="0" y="960942"/>
                    </a:cubicBezTo>
                  </a:path>
                </a:pathLst>
              </a:custGeom>
              <a:solidFill>
                <a:srgbClr val="4557A7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1993720" y="1446895"/>
              <a:ext cx="1315720" cy="1010920"/>
              <a:chOff x="0" y="0"/>
              <a:chExt cx="1315720" cy="101092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50782" y="50800"/>
                <a:ext cx="1214856" cy="910985"/>
              </a:xfrm>
              <a:custGeom>
                <a:avLst/>
                <a:gdLst/>
                <a:ahLst/>
                <a:cxnLst/>
                <a:rect r="r" b="b" t="t" l="l"/>
                <a:pathLst>
                  <a:path h="910985" w="1214856">
                    <a:moveTo>
                      <a:pt x="262908" y="0"/>
                    </a:moveTo>
                    <a:cubicBezTo>
                      <a:pt x="627398" y="320040"/>
                      <a:pt x="919498" y="445770"/>
                      <a:pt x="1037608" y="549910"/>
                    </a:cubicBezTo>
                    <a:cubicBezTo>
                      <a:pt x="1108728" y="610870"/>
                      <a:pt x="1153178" y="678180"/>
                      <a:pt x="1182388" y="723900"/>
                    </a:cubicBezTo>
                    <a:cubicBezTo>
                      <a:pt x="1198898" y="750570"/>
                      <a:pt x="1221758" y="769620"/>
                      <a:pt x="1212868" y="791210"/>
                    </a:cubicBezTo>
                    <a:cubicBezTo>
                      <a:pt x="1193818" y="838200"/>
                      <a:pt x="919498" y="928370"/>
                      <a:pt x="850918" y="908050"/>
                    </a:cubicBezTo>
                    <a:cubicBezTo>
                      <a:pt x="815358" y="896620"/>
                      <a:pt x="821708" y="858520"/>
                      <a:pt x="784878" y="826770"/>
                    </a:cubicBezTo>
                    <a:cubicBezTo>
                      <a:pt x="692168" y="745490"/>
                      <a:pt x="361968" y="595630"/>
                      <a:pt x="220998" y="488950"/>
                    </a:cubicBezTo>
                    <a:cubicBezTo>
                      <a:pt x="125748" y="416560"/>
                      <a:pt x="2558" y="356870"/>
                      <a:pt x="18" y="280670"/>
                    </a:cubicBezTo>
                    <a:cubicBezTo>
                      <a:pt x="-2522" y="194310"/>
                      <a:pt x="262908" y="0"/>
                      <a:pt x="262908" y="0"/>
                    </a:cubicBezTo>
                  </a:path>
                </a:pathLst>
              </a:custGeom>
              <a:solidFill>
                <a:srgbClr val="4557A7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1993720" y="3091558"/>
              <a:ext cx="1711466" cy="242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6"/>
                </a:lnSpc>
                <a:spcBef>
                  <a:spcPct val="0"/>
                </a:spcBef>
              </a:pP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4656910" y="1570085"/>
              <a:ext cx="1546860" cy="1292860"/>
              <a:chOff x="0" y="0"/>
              <a:chExt cx="1546860" cy="129286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50227" y="50227"/>
                <a:ext cx="1444749" cy="1199427"/>
              </a:xfrm>
              <a:custGeom>
                <a:avLst/>
                <a:gdLst/>
                <a:ahLst/>
                <a:cxnLst/>
                <a:rect r="r" b="b" t="t" l="l"/>
                <a:pathLst>
                  <a:path h="1199427" w="1444749">
                    <a:moveTo>
                      <a:pt x="33593" y="1125793"/>
                    </a:moveTo>
                    <a:cubicBezTo>
                      <a:pt x="169483" y="1143573"/>
                      <a:pt x="225363" y="1143573"/>
                      <a:pt x="262193" y="1130873"/>
                    </a:cubicBezTo>
                    <a:cubicBezTo>
                      <a:pt x="293943" y="1120713"/>
                      <a:pt x="311723" y="1108013"/>
                      <a:pt x="342203" y="1083883"/>
                    </a:cubicBezTo>
                    <a:cubicBezTo>
                      <a:pt x="395543" y="1039433"/>
                      <a:pt x="483173" y="917513"/>
                      <a:pt x="536513" y="867983"/>
                    </a:cubicBezTo>
                    <a:cubicBezTo>
                      <a:pt x="569533" y="838773"/>
                      <a:pt x="597473" y="817183"/>
                      <a:pt x="620333" y="801943"/>
                    </a:cubicBezTo>
                    <a:cubicBezTo>
                      <a:pt x="634303" y="793053"/>
                      <a:pt x="640653" y="786703"/>
                      <a:pt x="655893" y="781623"/>
                    </a:cubicBezTo>
                    <a:cubicBezTo>
                      <a:pt x="680023" y="774003"/>
                      <a:pt x="732093" y="786703"/>
                      <a:pt x="754953" y="772733"/>
                    </a:cubicBezTo>
                    <a:cubicBezTo>
                      <a:pt x="774003" y="761303"/>
                      <a:pt x="770193" y="737173"/>
                      <a:pt x="790513" y="715583"/>
                    </a:cubicBezTo>
                    <a:cubicBezTo>
                      <a:pt x="831153" y="671133"/>
                      <a:pt x="955613" y="602553"/>
                      <a:pt x="1015303" y="545403"/>
                    </a:cubicBezTo>
                    <a:cubicBezTo>
                      <a:pt x="1062293" y="499683"/>
                      <a:pt x="1086423" y="450153"/>
                      <a:pt x="1127063" y="406973"/>
                    </a:cubicBezTo>
                    <a:cubicBezTo>
                      <a:pt x="1167703" y="361253"/>
                      <a:pt x="1224853" y="323153"/>
                      <a:pt x="1260413" y="278703"/>
                    </a:cubicBezTo>
                    <a:cubicBezTo>
                      <a:pt x="1293433" y="238063"/>
                      <a:pt x="1316293" y="196153"/>
                      <a:pt x="1339153" y="151703"/>
                    </a:cubicBezTo>
                    <a:cubicBezTo>
                      <a:pt x="1363283" y="105983"/>
                      <a:pt x="1375983" y="24703"/>
                      <a:pt x="1400113" y="8193"/>
                    </a:cubicBezTo>
                    <a:cubicBezTo>
                      <a:pt x="1411543" y="573"/>
                      <a:pt x="1430593" y="573"/>
                      <a:pt x="1436943" y="6923"/>
                    </a:cubicBezTo>
                    <a:cubicBezTo>
                      <a:pt x="1443293" y="12003"/>
                      <a:pt x="1444563" y="29783"/>
                      <a:pt x="1440753" y="37403"/>
                    </a:cubicBezTo>
                    <a:cubicBezTo>
                      <a:pt x="1438213" y="43753"/>
                      <a:pt x="1428053" y="50103"/>
                      <a:pt x="1421703" y="50103"/>
                    </a:cubicBezTo>
                    <a:cubicBezTo>
                      <a:pt x="1412813" y="50103"/>
                      <a:pt x="1398843" y="41213"/>
                      <a:pt x="1395033" y="33593"/>
                    </a:cubicBezTo>
                    <a:cubicBezTo>
                      <a:pt x="1392493" y="27243"/>
                      <a:pt x="1393763" y="15813"/>
                      <a:pt x="1397573" y="10733"/>
                    </a:cubicBezTo>
                    <a:cubicBezTo>
                      <a:pt x="1403923" y="4383"/>
                      <a:pt x="1419163" y="-1967"/>
                      <a:pt x="1428053" y="573"/>
                    </a:cubicBezTo>
                    <a:cubicBezTo>
                      <a:pt x="1435673" y="3113"/>
                      <a:pt x="1443293" y="14543"/>
                      <a:pt x="1444563" y="27243"/>
                    </a:cubicBezTo>
                    <a:cubicBezTo>
                      <a:pt x="1447103" y="48833"/>
                      <a:pt x="1422973" y="90743"/>
                      <a:pt x="1405193" y="128843"/>
                    </a:cubicBezTo>
                    <a:cubicBezTo>
                      <a:pt x="1379793" y="180913"/>
                      <a:pt x="1340423" y="255843"/>
                      <a:pt x="1299783" y="307913"/>
                    </a:cubicBezTo>
                    <a:cubicBezTo>
                      <a:pt x="1261683" y="356173"/>
                      <a:pt x="1213423" y="386653"/>
                      <a:pt x="1171513" y="432373"/>
                    </a:cubicBezTo>
                    <a:cubicBezTo>
                      <a:pt x="1124523" y="481903"/>
                      <a:pt x="1088963" y="542863"/>
                      <a:pt x="1035623" y="594933"/>
                    </a:cubicBezTo>
                    <a:cubicBezTo>
                      <a:pt x="974663" y="652083"/>
                      <a:pt x="856553" y="710503"/>
                      <a:pt x="823533" y="753683"/>
                    </a:cubicBezTo>
                    <a:cubicBezTo>
                      <a:pt x="808293" y="775273"/>
                      <a:pt x="818453" y="798133"/>
                      <a:pt x="801943" y="810833"/>
                    </a:cubicBezTo>
                    <a:cubicBezTo>
                      <a:pt x="779083" y="829883"/>
                      <a:pt x="702883" y="819723"/>
                      <a:pt x="676213" y="828613"/>
                    </a:cubicBezTo>
                    <a:cubicBezTo>
                      <a:pt x="662243" y="833693"/>
                      <a:pt x="658433" y="837503"/>
                      <a:pt x="647003" y="845123"/>
                    </a:cubicBezTo>
                    <a:cubicBezTo>
                      <a:pt x="630493" y="856553"/>
                      <a:pt x="612713" y="867983"/>
                      <a:pt x="588583" y="889573"/>
                    </a:cubicBezTo>
                    <a:cubicBezTo>
                      <a:pt x="540323" y="934023"/>
                      <a:pt x="453963" y="1057213"/>
                      <a:pt x="389193" y="1109283"/>
                    </a:cubicBezTo>
                    <a:cubicBezTo>
                      <a:pt x="342203" y="1148653"/>
                      <a:pt x="302833" y="1177863"/>
                      <a:pt x="249493" y="1191833"/>
                    </a:cubicBezTo>
                    <a:cubicBezTo>
                      <a:pt x="188533" y="1207073"/>
                      <a:pt x="83123" y="1196913"/>
                      <a:pt x="41213" y="1182943"/>
                    </a:cubicBezTo>
                    <a:cubicBezTo>
                      <a:pt x="20893" y="1176593"/>
                      <a:pt x="3113" y="1165163"/>
                      <a:pt x="573" y="1155003"/>
                    </a:cubicBezTo>
                    <a:cubicBezTo>
                      <a:pt x="-1967" y="1147383"/>
                      <a:pt x="4383" y="1133413"/>
                      <a:pt x="10733" y="1128333"/>
                    </a:cubicBezTo>
                    <a:cubicBezTo>
                      <a:pt x="15813" y="1124523"/>
                      <a:pt x="33593" y="1125793"/>
                      <a:pt x="33593" y="1125793"/>
                    </a:cubicBezTo>
                  </a:path>
                </a:pathLst>
              </a:custGeom>
              <a:solidFill>
                <a:srgbClr val="DD3D3A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TextBox 40" id="40"/>
          <p:cNvSpPr txBox="true"/>
          <p:nvPr/>
        </p:nvSpPr>
        <p:spPr>
          <a:xfrm rot="0">
            <a:off x="11783854" y="0"/>
            <a:ext cx="811530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sz="4600" b="true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 Series Analysis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40724" y="6165744"/>
            <a:ext cx="305681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DD3D3A"/>
                </a:solidFill>
                <a:latin typeface="Work Sans"/>
                <a:ea typeface="Work Sans"/>
                <a:cs typeface="Work Sans"/>
                <a:sym typeface="Work Sans"/>
              </a:rPr>
              <a:t>Stable Median across all months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231075" y="3955983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059359" y="6606686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999572" y="9463153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71329" y="5517934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69718" y="9614769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873236" y="593508"/>
            <a:ext cx="203001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[Apr</a:t>
            </a: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2023 - Jan 2025]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2133913" y="1028700"/>
            <a:ext cx="5532543" cy="725469"/>
            <a:chOff x="0" y="0"/>
            <a:chExt cx="7376724" cy="96729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10260"/>
              <a:ext cx="3535327" cy="853381"/>
            </a:xfrm>
            <a:custGeom>
              <a:avLst/>
              <a:gdLst/>
              <a:ahLst/>
              <a:cxnLst/>
              <a:rect r="r" b="b" t="t" l="l"/>
              <a:pathLst>
                <a:path h="853381" w="3535327">
                  <a:moveTo>
                    <a:pt x="0" y="0"/>
                  </a:moveTo>
                  <a:lnTo>
                    <a:pt x="3535327" y="0"/>
                  </a:lnTo>
                  <a:lnTo>
                    <a:pt x="3535327" y="853381"/>
                  </a:lnTo>
                  <a:lnTo>
                    <a:pt x="0" y="853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122718" y="157861"/>
              <a:ext cx="2869855" cy="529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5"/>
                </a:lnSpc>
                <a:spcBef>
                  <a:spcPct val="0"/>
                </a:spcBef>
              </a:pPr>
              <a:r>
                <a:rPr lang="en-US" sz="73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Average monthly revenue in 2023: ≈ 29,761</a:t>
              </a:r>
            </a:p>
            <a:p>
              <a:pPr algn="ctr">
                <a:lnSpc>
                  <a:spcPts val="1035"/>
                </a:lnSpc>
                <a:spcBef>
                  <a:spcPct val="0"/>
                </a:spcBef>
              </a:pPr>
              <a:r>
                <a:rPr lang="en-US" sz="73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Average monthly revenue in 2024: ≈ 41,659</a:t>
              </a:r>
            </a:p>
            <a:p>
              <a:pPr algn="ctr">
                <a:lnSpc>
                  <a:spcPts val="1035"/>
                </a:lnSpc>
                <a:spcBef>
                  <a:spcPct val="0"/>
                </a:spcBef>
              </a:pPr>
            </a:p>
          </p:txBody>
        </p:sp>
        <p:sp>
          <p:nvSpPr>
            <p:cNvPr name="Freeform 51" id="51"/>
            <p:cNvSpPr/>
            <p:nvPr/>
          </p:nvSpPr>
          <p:spPr>
            <a:xfrm flipH="false" flipV="false" rot="0">
              <a:off x="3841398" y="0"/>
              <a:ext cx="3535327" cy="853381"/>
            </a:xfrm>
            <a:custGeom>
              <a:avLst/>
              <a:gdLst/>
              <a:ahLst/>
              <a:cxnLst/>
              <a:rect r="r" b="b" t="t" l="l"/>
              <a:pathLst>
                <a:path h="853381" w="3535327">
                  <a:moveTo>
                    <a:pt x="0" y="0"/>
                  </a:moveTo>
                  <a:lnTo>
                    <a:pt x="3535326" y="0"/>
                  </a:lnTo>
                  <a:lnTo>
                    <a:pt x="3535326" y="853381"/>
                  </a:lnTo>
                  <a:lnTo>
                    <a:pt x="0" y="853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 rot="0">
              <a:off x="4310027" y="128721"/>
              <a:ext cx="2418186" cy="838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35"/>
                </a:lnSpc>
                <a:spcBef>
                  <a:spcPct val="0"/>
                </a:spcBef>
              </a:pPr>
              <a:r>
                <a:rPr lang="en-US" sz="73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Annual Revenue Growth Rate</a:t>
              </a:r>
              <a:r>
                <a:rPr lang="en-US" sz="73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 ≈ 90%+</a:t>
              </a:r>
            </a:p>
            <a:p>
              <a:pPr algn="l">
                <a:lnSpc>
                  <a:spcPts val="1035"/>
                </a:lnSpc>
                <a:spcBef>
                  <a:spcPct val="0"/>
                </a:spcBef>
              </a:pPr>
              <a:r>
                <a:rPr lang="en-US" sz="73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Average Bill Value: 210</a:t>
              </a:r>
            </a:p>
            <a:p>
              <a:pPr algn="l">
                <a:lnSpc>
                  <a:spcPts val="1035"/>
                </a:lnSpc>
                <a:spcBef>
                  <a:spcPct val="0"/>
                </a:spcBef>
              </a:pPr>
              <a:r>
                <a:rPr lang="en-US" sz="739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Median Bill Value: 170</a:t>
              </a:r>
            </a:p>
            <a:p>
              <a:pPr algn="ctr">
                <a:lnSpc>
                  <a:spcPts val="1035"/>
                </a:lnSpc>
                <a:spcBef>
                  <a:spcPct val="0"/>
                </a:spcBef>
              </a:pPr>
            </a:p>
            <a:p>
              <a:pPr algn="ctr">
                <a:lnSpc>
                  <a:spcPts val="103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26119" y="109987"/>
            <a:ext cx="136366" cy="3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2086" y="6836272"/>
            <a:ext cx="6116317" cy="3305908"/>
          </a:xfrm>
          <a:custGeom>
            <a:avLst/>
            <a:gdLst/>
            <a:ahLst/>
            <a:cxnLst/>
            <a:rect r="r" b="b" t="t" l="l"/>
            <a:pathLst>
              <a:path h="3305908" w="6116317">
                <a:moveTo>
                  <a:pt x="0" y="0"/>
                </a:moveTo>
                <a:lnTo>
                  <a:pt x="6116317" y="0"/>
                </a:lnTo>
                <a:lnTo>
                  <a:pt x="6116317" y="3305908"/>
                </a:lnTo>
                <a:lnTo>
                  <a:pt x="0" y="3305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73049" y="3509202"/>
            <a:ext cx="6729839" cy="3322858"/>
          </a:xfrm>
          <a:custGeom>
            <a:avLst/>
            <a:gdLst/>
            <a:ahLst/>
            <a:cxnLst/>
            <a:rect r="r" b="b" t="t" l="l"/>
            <a:pathLst>
              <a:path h="3322858" w="6729839">
                <a:moveTo>
                  <a:pt x="0" y="0"/>
                </a:moveTo>
                <a:lnTo>
                  <a:pt x="6729840" y="0"/>
                </a:lnTo>
                <a:lnTo>
                  <a:pt x="6729840" y="3322858"/>
                </a:lnTo>
                <a:lnTo>
                  <a:pt x="0" y="3322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03777" y="207043"/>
            <a:ext cx="2994554" cy="3098140"/>
          </a:xfrm>
          <a:custGeom>
            <a:avLst/>
            <a:gdLst/>
            <a:ahLst/>
            <a:cxnLst/>
            <a:rect r="r" b="b" t="t" l="l"/>
            <a:pathLst>
              <a:path h="3098140" w="2994554">
                <a:moveTo>
                  <a:pt x="0" y="0"/>
                </a:moveTo>
                <a:lnTo>
                  <a:pt x="2994554" y="0"/>
                </a:lnTo>
                <a:lnTo>
                  <a:pt x="2994554" y="3098139"/>
                </a:lnTo>
                <a:lnTo>
                  <a:pt x="0" y="3098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67495" y="3362332"/>
            <a:ext cx="3380864" cy="2296578"/>
          </a:xfrm>
          <a:custGeom>
            <a:avLst/>
            <a:gdLst/>
            <a:ahLst/>
            <a:cxnLst/>
            <a:rect r="r" b="b" t="t" l="l"/>
            <a:pathLst>
              <a:path h="2296578" w="3380864">
                <a:moveTo>
                  <a:pt x="0" y="0"/>
                </a:moveTo>
                <a:lnTo>
                  <a:pt x="3380864" y="0"/>
                </a:lnTo>
                <a:lnTo>
                  <a:pt x="3380864" y="2296578"/>
                </a:lnTo>
                <a:lnTo>
                  <a:pt x="0" y="22965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67495" y="7971309"/>
            <a:ext cx="3380864" cy="2170870"/>
          </a:xfrm>
          <a:custGeom>
            <a:avLst/>
            <a:gdLst/>
            <a:ahLst/>
            <a:cxnLst/>
            <a:rect r="r" b="b" t="t" l="l"/>
            <a:pathLst>
              <a:path h="2170870" w="3380864">
                <a:moveTo>
                  <a:pt x="0" y="0"/>
                </a:moveTo>
                <a:lnTo>
                  <a:pt x="3380864" y="0"/>
                </a:lnTo>
                <a:lnTo>
                  <a:pt x="3380864" y="2170871"/>
                </a:lnTo>
                <a:lnTo>
                  <a:pt x="0" y="21708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67495" y="5720456"/>
            <a:ext cx="3380864" cy="2189307"/>
          </a:xfrm>
          <a:custGeom>
            <a:avLst/>
            <a:gdLst/>
            <a:ahLst/>
            <a:cxnLst/>
            <a:rect r="r" b="b" t="t" l="l"/>
            <a:pathLst>
              <a:path h="2189307" w="3380864">
                <a:moveTo>
                  <a:pt x="0" y="0"/>
                </a:moveTo>
                <a:lnTo>
                  <a:pt x="3380864" y="0"/>
                </a:lnTo>
                <a:lnTo>
                  <a:pt x="3380864" y="2189307"/>
                </a:lnTo>
                <a:lnTo>
                  <a:pt x="0" y="21893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6100" y="249570"/>
            <a:ext cx="3480888" cy="95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1"/>
              </a:lnSpc>
            </a:pPr>
            <a:r>
              <a:rPr lang="en-US" sz="2709" b="true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Retention Analysis</a:t>
            </a:r>
          </a:p>
          <a:p>
            <a:pPr algn="l">
              <a:lnSpc>
                <a:spcPts val="4404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1629361" y="249570"/>
            <a:ext cx="5761561" cy="3112762"/>
            <a:chOff x="0" y="0"/>
            <a:chExt cx="7682081" cy="4150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83254" cy="4150350"/>
            </a:xfrm>
            <a:custGeom>
              <a:avLst/>
              <a:gdLst/>
              <a:ahLst/>
              <a:cxnLst/>
              <a:rect r="r" b="b" t="t" l="l"/>
              <a:pathLst>
                <a:path h="4150350" w="7383254">
                  <a:moveTo>
                    <a:pt x="0" y="0"/>
                  </a:moveTo>
                  <a:lnTo>
                    <a:pt x="7383254" y="0"/>
                  </a:lnTo>
                  <a:lnTo>
                    <a:pt x="7383254" y="4150350"/>
                  </a:lnTo>
                  <a:lnTo>
                    <a:pt x="0" y="4150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grpSp>
          <p:nvGrpSpPr>
            <p:cNvPr name="Group 11" id="11"/>
            <p:cNvGrpSpPr/>
            <p:nvPr/>
          </p:nvGrpSpPr>
          <p:grpSpPr>
            <a:xfrm rot="0">
              <a:off x="1168260" y="1477294"/>
              <a:ext cx="1914246" cy="1898993"/>
              <a:chOff x="0" y="0"/>
              <a:chExt cx="1593850" cy="158115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50800" y="49148"/>
                <a:ext cx="1492711" cy="1481320"/>
              </a:xfrm>
              <a:custGeom>
                <a:avLst/>
                <a:gdLst/>
                <a:ahLst/>
                <a:cxnLst/>
                <a:rect r="r" b="b" t="t" l="l"/>
                <a:pathLst>
                  <a:path h="1481320" w="1492711">
                    <a:moveTo>
                      <a:pt x="0" y="1191642"/>
                    </a:moveTo>
                    <a:cubicBezTo>
                      <a:pt x="607060" y="630302"/>
                      <a:pt x="845820" y="348362"/>
                      <a:pt x="1013460" y="206122"/>
                    </a:cubicBezTo>
                    <a:cubicBezTo>
                      <a:pt x="1122680" y="113412"/>
                      <a:pt x="1225550" y="-16128"/>
                      <a:pt x="1304290" y="1652"/>
                    </a:cubicBezTo>
                    <a:cubicBezTo>
                      <a:pt x="1385570" y="20702"/>
                      <a:pt x="1508760" y="260732"/>
                      <a:pt x="1490980" y="334392"/>
                    </a:cubicBezTo>
                    <a:cubicBezTo>
                      <a:pt x="1479550" y="382652"/>
                      <a:pt x="1393190" y="391542"/>
                      <a:pt x="1343660" y="429642"/>
                    </a:cubicBezTo>
                    <a:cubicBezTo>
                      <a:pt x="1289050" y="472822"/>
                      <a:pt x="1248410" y="514732"/>
                      <a:pt x="1179830" y="580772"/>
                    </a:cubicBezTo>
                    <a:cubicBezTo>
                      <a:pt x="1056640" y="701422"/>
                      <a:pt x="836930" y="937642"/>
                      <a:pt x="674370" y="1095122"/>
                    </a:cubicBezTo>
                    <a:cubicBezTo>
                      <a:pt x="530860" y="1234822"/>
                      <a:pt x="374650" y="1487552"/>
                      <a:pt x="254000" y="1481202"/>
                    </a:cubicBezTo>
                    <a:cubicBezTo>
                      <a:pt x="156210" y="1474852"/>
                      <a:pt x="0" y="1191642"/>
                      <a:pt x="0" y="1191642"/>
                    </a:cubicBezTo>
                  </a:path>
                </a:pathLst>
              </a:custGeom>
              <a:solidFill>
                <a:srgbClr val="4557A7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3" id="13"/>
            <p:cNvSpPr txBox="true"/>
            <p:nvPr/>
          </p:nvSpPr>
          <p:spPr>
            <a:xfrm rot="-2383682">
              <a:off x="833608" y="2023436"/>
              <a:ext cx="1767913" cy="378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12"/>
                </a:lnSpc>
                <a:spcBef>
                  <a:spcPct val="0"/>
                </a:spcBef>
              </a:pPr>
              <a:r>
                <a:rPr lang="en-US" sz="794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Loosing potential loyal customer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5071660" y="334358"/>
              <a:ext cx="2106741" cy="1405439"/>
              <a:chOff x="0" y="0"/>
              <a:chExt cx="1888490" cy="12598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50800" y="41688"/>
                <a:ext cx="1795289" cy="1172588"/>
              </a:xfrm>
              <a:custGeom>
                <a:avLst/>
                <a:gdLst/>
                <a:ahLst/>
                <a:cxnLst/>
                <a:rect r="r" b="b" t="t" l="l"/>
                <a:pathLst>
                  <a:path h="1172588" w="1795289">
                    <a:moveTo>
                      <a:pt x="0" y="813022"/>
                    </a:moveTo>
                    <a:cubicBezTo>
                      <a:pt x="742950" y="475202"/>
                      <a:pt x="861060" y="357092"/>
                      <a:pt x="1002030" y="277082"/>
                    </a:cubicBezTo>
                    <a:cubicBezTo>
                      <a:pt x="1137920" y="200882"/>
                      <a:pt x="1291590" y="134842"/>
                      <a:pt x="1418590" y="87852"/>
                    </a:cubicBezTo>
                    <a:cubicBezTo>
                      <a:pt x="1518920" y="51022"/>
                      <a:pt x="1634490" y="-26448"/>
                      <a:pt x="1696720" y="9112"/>
                    </a:cubicBezTo>
                    <a:cubicBezTo>
                      <a:pt x="1766570" y="51022"/>
                      <a:pt x="1817370" y="340582"/>
                      <a:pt x="1785620" y="379952"/>
                    </a:cubicBezTo>
                    <a:cubicBezTo>
                      <a:pt x="1769110" y="399002"/>
                      <a:pt x="1728470" y="369792"/>
                      <a:pt x="1695450" y="377412"/>
                    </a:cubicBezTo>
                    <a:cubicBezTo>
                      <a:pt x="1643380" y="388842"/>
                      <a:pt x="1586230" y="437102"/>
                      <a:pt x="1512570" y="471392"/>
                    </a:cubicBezTo>
                    <a:cubicBezTo>
                      <a:pt x="1405890" y="520922"/>
                      <a:pt x="1216660" y="584422"/>
                      <a:pt x="1109980" y="639032"/>
                    </a:cubicBezTo>
                    <a:cubicBezTo>
                      <a:pt x="1035050" y="677132"/>
                      <a:pt x="986790" y="708882"/>
                      <a:pt x="927100" y="750792"/>
                    </a:cubicBezTo>
                    <a:cubicBezTo>
                      <a:pt x="864870" y="795242"/>
                      <a:pt x="812800" y="853662"/>
                      <a:pt x="746760" y="895572"/>
                    </a:cubicBezTo>
                    <a:cubicBezTo>
                      <a:pt x="678180" y="940022"/>
                      <a:pt x="604520" y="969232"/>
                      <a:pt x="518160" y="1008602"/>
                    </a:cubicBezTo>
                    <a:cubicBezTo>
                      <a:pt x="411480" y="1058132"/>
                      <a:pt x="237490" y="1201642"/>
                      <a:pt x="151130" y="1167352"/>
                    </a:cubicBezTo>
                    <a:cubicBezTo>
                      <a:pt x="66040" y="1133062"/>
                      <a:pt x="0" y="813022"/>
                      <a:pt x="0" y="813022"/>
                    </a:cubicBezTo>
                  </a:path>
                </a:pathLst>
              </a:custGeom>
              <a:solidFill>
                <a:srgbClr val="FFF234">
                  <a:alpha val="24706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-1593903">
              <a:off x="5310205" y="1031347"/>
              <a:ext cx="2321146" cy="7748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2"/>
                </a:lnSpc>
                <a:spcBef>
                  <a:spcPct val="0"/>
                </a:spcBef>
              </a:pPr>
              <a:r>
                <a:rPr lang="en-US" sz="1673">
                  <a:solidFill>
                    <a:srgbClr val="CA0F2D"/>
                  </a:solidFill>
                  <a:latin typeface="Work Sans"/>
                  <a:ea typeface="Work Sans"/>
                  <a:cs typeface="Work Sans"/>
                  <a:sym typeface="Work Sans"/>
                </a:rPr>
                <a:t>Loosing Loyal Customers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056189" y="456519"/>
            <a:ext cx="2145830" cy="1915815"/>
          </a:xfrm>
          <a:custGeom>
            <a:avLst/>
            <a:gdLst/>
            <a:ahLst/>
            <a:cxnLst/>
            <a:rect r="r" b="b" t="t" l="l"/>
            <a:pathLst>
              <a:path h="1915815" w="2145830">
                <a:moveTo>
                  <a:pt x="0" y="0"/>
                </a:moveTo>
                <a:lnTo>
                  <a:pt x="2145830" y="0"/>
                </a:lnTo>
                <a:lnTo>
                  <a:pt x="2145830" y="1915816"/>
                </a:lnTo>
                <a:lnTo>
                  <a:pt x="0" y="19158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3257" y="1414427"/>
            <a:ext cx="5345613" cy="8106192"/>
            <a:chOff x="0" y="0"/>
            <a:chExt cx="7127484" cy="10808255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127484" cy="10808255"/>
              <a:chOff x="0" y="0"/>
              <a:chExt cx="952398" cy="1444235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52398" cy="1444235"/>
              </a:xfrm>
              <a:custGeom>
                <a:avLst/>
                <a:gdLst/>
                <a:ahLst/>
                <a:cxnLst/>
                <a:rect r="r" b="b" t="t" l="l"/>
                <a:pathLst>
                  <a:path h="1444235" w="952398">
                    <a:moveTo>
                      <a:pt x="108385" y="0"/>
                    </a:moveTo>
                    <a:lnTo>
                      <a:pt x="844013" y="0"/>
                    </a:lnTo>
                    <a:cubicBezTo>
                      <a:pt x="872759" y="0"/>
                      <a:pt x="900327" y="11419"/>
                      <a:pt x="920653" y="31745"/>
                    </a:cubicBezTo>
                    <a:cubicBezTo>
                      <a:pt x="940979" y="52071"/>
                      <a:pt x="952398" y="79639"/>
                      <a:pt x="952398" y="108385"/>
                    </a:cubicBezTo>
                    <a:lnTo>
                      <a:pt x="952398" y="1335850"/>
                    </a:lnTo>
                    <a:cubicBezTo>
                      <a:pt x="952398" y="1395709"/>
                      <a:pt x="903872" y="1444235"/>
                      <a:pt x="844013" y="1444235"/>
                    </a:cubicBezTo>
                    <a:lnTo>
                      <a:pt x="108385" y="1444235"/>
                    </a:lnTo>
                    <a:cubicBezTo>
                      <a:pt x="48526" y="1444235"/>
                      <a:pt x="0" y="1395709"/>
                      <a:pt x="0" y="1335850"/>
                    </a:cubicBezTo>
                    <a:lnTo>
                      <a:pt x="0" y="108385"/>
                    </a:lnTo>
                    <a:cubicBezTo>
                      <a:pt x="0" y="48526"/>
                      <a:pt x="48526" y="0"/>
                      <a:pt x="108385" y="0"/>
                    </a:cubicBezTo>
                    <a:close/>
                  </a:path>
                </a:pathLst>
              </a:custGeom>
              <a:solidFill>
                <a:srgbClr val="FF5757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952398" cy="1482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12660" y="2427061"/>
              <a:ext cx="6702164" cy="49323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0"/>
                </a:lnSpc>
              </a:pPr>
            </a:p>
            <a:p>
              <a:pPr algn="l">
                <a:lnSpc>
                  <a:spcPts val="1460"/>
                </a:lnSpc>
              </a:pPr>
            </a:p>
            <a:p>
              <a:pPr algn="l" marL="225168" indent="-112584" lvl="1">
                <a:lnSpc>
                  <a:spcPts val="1460"/>
                </a:lnSpc>
                <a:buFont typeface="Arial"/>
                <a:buChar char="•"/>
              </a:pP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Repeat customers consistently give higher ratings.</a:t>
              </a:r>
            </a:p>
            <a:p>
              <a:pPr algn="l" marL="225168" indent="-112584" lvl="1">
                <a:lnSpc>
                  <a:spcPts val="1460"/>
                </a:lnSpc>
                <a:buFont typeface="Arial"/>
                <a:buChar char="•"/>
              </a:pP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Most repeat buyers order from within 2–4 km.</a:t>
              </a:r>
            </a:p>
            <a:p>
              <a:pPr algn="l" marL="225168" indent="-112584" lvl="1">
                <a:lnSpc>
                  <a:spcPts val="1460"/>
                </a:lnSpc>
                <a:buFont typeface="Arial"/>
                <a:buChar char="•"/>
              </a:pP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Non-repeat customers often from beyond 4 km likely place trial orders influenced by low price but don’t return. </a:t>
              </a:r>
            </a:p>
            <a:p>
              <a:pPr algn="l" marL="225168" indent="-112584" lvl="1">
                <a:lnSpc>
                  <a:spcPts val="1460"/>
                </a:lnSpc>
                <a:buFont typeface="Arial"/>
                <a:buChar char="•"/>
              </a:pP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Both customer types have similar bill distributions, but non-repeat customers show more outliers with high bills.</a:t>
              </a:r>
            </a:p>
            <a:p>
              <a:pPr algn="l" marL="225168" indent="-112584" lvl="1">
                <a:lnSpc>
                  <a:spcPts val="1460"/>
                </a:lnSpc>
                <a:buFont typeface="Arial"/>
                <a:buChar char="•"/>
              </a:pP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Customer retention is very low 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ac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ross months. By the end of February Customer Churn Rate reached 96.43% with steep between December to January.</a:t>
              </a:r>
            </a:p>
            <a:p>
              <a:pPr algn="l" marL="225168" indent="-112584" lvl="1">
                <a:lnSpc>
                  <a:spcPts val="1460"/>
                </a:lnSpc>
                <a:buFont typeface="Arial"/>
                <a:buChar char="•"/>
              </a:pP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Even among repeat buyers, 50% customers drop off after 2-3 purchases who could likely become loyal customer in future.</a:t>
              </a:r>
            </a:p>
            <a:p>
              <a:pPr algn="l" marL="225168" indent="-112584" lvl="1">
                <a:lnSpc>
                  <a:spcPts val="1460"/>
                </a:lnSpc>
                <a:buFont typeface="Arial"/>
                <a:buChar char="•"/>
              </a:pP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Most negative mentions are linked to portion size accuracy(40%), taste consistency(30%), and wrong or incomplete orders(10%). </a:t>
              </a:r>
            </a:p>
            <a:p>
              <a:pPr algn="l" marL="225168" indent="-112584" lvl="1">
                <a:lnSpc>
                  <a:spcPts val="1460"/>
                </a:lnSpc>
                <a:buFont typeface="Arial"/>
                <a:buChar char="•"/>
              </a:pP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Although sentiment clusters featured keywords like “tasty,” “good,” and “delicious,” the proportion of negative experiences indicates a need for operational refinement.</a:t>
              </a:r>
            </a:p>
            <a:p>
              <a:pPr algn="l">
                <a:lnSpc>
                  <a:spcPts val="1460"/>
                </a:lnSpc>
              </a:pPr>
            </a:p>
            <a:p>
              <a:pPr algn="l">
                <a:lnSpc>
                  <a:spcPts val="1460"/>
                </a:lnSpc>
              </a:pPr>
            </a:p>
            <a:p>
              <a:pPr algn="l">
                <a:lnSpc>
                  <a:spcPts val="1460"/>
                </a:lnSpc>
                <a:spcBef>
                  <a:spcPct val="0"/>
                </a:spcBef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90846" y="279083"/>
              <a:ext cx="6340992" cy="501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b="true" sz="224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01. Current Strategy in Place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90846" y="952896"/>
              <a:ext cx="6623978" cy="1169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039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The current retention method is simple:</a:t>
              </a:r>
            </a:p>
            <a:p>
              <a:pPr algn="l" marL="224429" indent="-112215" lvl="1">
                <a:lnSpc>
                  <a:spcPts val="1455"/>
                </a:lnSpc>
                <a:buFont typeface="Arial"/>
                <a:buChar char="•"/>
              </a:pPr>
              <a:r>
                <a:rPr lang="en-US" sz="1039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Customers who call to place orders are added to a WhatsApp group.</a:t>
              </a:r>
            </a:p>
            <a:p>
              <a:pPr algn="l" marL="224429" indent="-112215" lvl="1">
                <a:lnSpc>
                  <a:spcPts val="1455"/>
                </a:lnSpc>
                <a:buFont typeface="Arial"/>
                <a:buChar char="•"/>
              </a:pPr>
              <a:r>
                <a:rPr lang="en-US" sz="1039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The owner shares festive offer posters in the group to keep them engaged.</a:t>
              </a:r>
            </a:p>
            <a:p>
              <a:pPr algn="l" marL="224429" indent="-112215" lvl="1">
                <a:lnSpc>
                  <a:spcPts val="1455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39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Occasional BOGO offers are run in limited quantities to avoid losses.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82557" y="2176496"/>
              <a:ext cx="5358423" cy="501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b="true" sz="224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02. Observations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12660" y="7121808"/>
              <a:ext cx="6702164" cy="3521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60"/>
                </a:lnSpc>
              </a:pPr>
            </a:p>
            <a:p>
              <a:pPr algn="l">
                <a:lnSpc>
                  <a:spcPts val="1460"/>
                </a:lnSpc>
              </a:pPr>
            </a:p>
            <a:p>
              <a:pPr algn="l" marL="225168" indent="-112584" lvl="1">
                <a:lnSpc>
                  <a:spcPts val="1460"/>
                </a:lnSpc>
                <a:buAutoNum type="arabicPeriod" startAt="1"/>
              </a:pPr>
              <a:r>
                <a:rPr lang="en-US" b="true" sz="1042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Retention: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Churn is extremely high (96%), with many customers dropping off after 2–3 purchases. Positive experiences, consistency, and trust-building are critical to keep them engaged.</a:t>
              </a:r>
            </a:p>
            <a:p>
              <a:pPr algn="l" marL="225168" indent="-112584" lvl="1">
                <a:lnSpc>
                  <a:spcPts val="1460"/>
                </a:lnSpc>
                <a:buAutoNum type="arabicPeriod" startAt="1"/>
              </a:pPr>
              <a:r>
                <a:rPr lang="en-US" b="true" sz="1042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Distance: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Repeat buyers are mostly within 2–4 km. Longer distances cause delays, anticipation, and food temperature issues, leading to trial-only customers who don’t return.</a:t>
              </a:r>
            </a:p>
            <a:p>
              <a:pPr algn="l" marL="225168" indent="-112584" lvl="1">
                <a:lnSpc>
                  <a:spcPts val="1460"/>
                </a:lnSpc>
                <a:buAutoNum type="arabicPeriod" startAt="1"/>
              </a:pPr>
              <a:r>
                <a:rPr lang="en-US" b="true" sz="1042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Operations: 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Negative ment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ons fo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us o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 p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rtion 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z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accu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ac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y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, taste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consistency, and 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in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complete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orders. Addressing these operational gaps is essential t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 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redu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 dis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at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is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fac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io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</a:t>
              </a:r>
            </a:p>
            <a:p>
              <a:pPr algn="l" marL="225168" indent="-112584" lvl="1">
                <a:lnSpc>
                  <a:spcPts val="1460"/>
                </a:lnSpc>
                <a:buAutoNum type="arabicPeriod" startAt="1"/>
              </a:pPr>
              <a:r>
                <a:rPr lang="en-US" b="true" sz="1042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Customer Segmentation: 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Weeke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nd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at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tr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ac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fam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ili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es (hi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g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her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 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AOV, b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u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lk 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rder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</a:t>
              </a:r>
              <a:r>
                <a:rPr lang="en-US" sz="1042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), while weekdays are driven by students and professionals. Tailored offers for each segment can maximize traction.</a:t>
              </a:r>
            </a:p>
            <a:p>
              <a:pPr algn="l">
                <a:lnSpc>
                  <a:spcPts val="1460"/>
                </a:lnSpc>
              </a:pP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675541" y="6858265"/>
              <a:ext cx="3776402" cy="5011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8"/>
                </a:lnSpc>
                <a:spcBef>
                  <a:spcPct val="0"/>
                </a:spcBef>
              </a:pPr>
              <a:r>
                <a:rPr lang="en-US" b="true" sz="2241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03. Insights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645843" y="1102042"/>
            <a:ext cx="661035" cy="160972"/>
            <a:chOff x="0" y="0"/>
            <a:chExt cx="881380" cy="2146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0711" y="43192"/>
              <a:ext cx="779869" cy="120965"/>
            </a:xfrm>
            <a:custGeom>
              <a:avLst/>
              <a:gdLst/>
              <a:ahLst/>
              <a:cxnLst/>
              <a:rect r="r" b="b" t="t" l="l"/>
              <a:pathLst>
                <a:path h="120965" w="779869">
                  <a:moveTo>
                    <a:pt x="11519" y="73648"/>
                  </a:moveTo>
                  <a:cubicBezTo>
                    <a:pt x="137249" y="25388"/>
                    <a:pt x="170269" y="21578"/>
                    <a:pt x="223609" y="16498"/>
                  </a:cubicBezTo>
                  <a:cubicBezTo>
                    <a:pt x="321399" y="7608"/>
                    <a:pt x="542379" y="-10172"/>
                    <a:pt x="640169" y="7608"/>
                  </a:cubicBezTo>
                  <a:cubicBezTo>
                    <a:pt x="697319" y="17768"/>
                    <a:pt x="749389" y="41898"/>
                    <a:pt x="768439" y="58408"/>
                  </a:cubicBezTo>
                  <a:cubicBezTo>
                    <a:pt x="776059" y="66028"/>
                    <a:pt x="779869" y="72378"/>
                    <a:pt x="779869" y="79998"/>
                  </a:cubicBezTo>
                  <a:cubicBezTo>
                    <a:pt x="779869" y="86348"/>
                    <a:pt x="773519" y="96508"/>
                    <a:pt x="768439" y="100318"/>
                  </a:cubicBezTo>
                  <a:cubicBezTo>
                    <a:pt x="762089" y="104128"/>
                    <a:pt x="750659" y="105398"/>
                    <a:pt x="744309" y="102858"/>
                  </a:cubicBezTo>
                  <a:cubicBezTo>
                    <a:pt x="737959" y="100318"/>
                    <a:pt x="730339" y="91428"/>
                    <a:pt x="729069" y="85078"/>
                  </a:cubicBezTo>
                  <a:cubicBezTo>
                    <a:pt x="727799" y="77458"/>
                    <a:pt x="731609" y="67298"/>
                    <a:pt x="735419" y="62218"/>
                  </a:cubicBezTo>
                  <a:cubicBezTo>
                    <a:pt x="740499" y="57138"/>
                    <a:pt x="751929" y="52058"/>
                    <a:pt x="758279" y="54598"/>
                  </a:cubicBezTo>
                  <a:cubicBezTo>
                    <a:pt x="765899" y="55868"/>
                    <a:pt x="779869" y="68568"/>
                    <a:pt x="779869" y="77458"/>
                  </a:cubicBezTo>
                  <a:cubicBezTo>
                    <a:pt x="779869" y="86348"/>
                    <a:pt x="767169" y="101588"/>
                    <a:pt x="755739" y="105398"/>
                  </a:cubicBezTo>
                  <a:cubicBezTo>
                    <a:pt x="731609" y="110478"/>
                    <a:pt x="687159" y="67298"/>
                    <a:pt x="638899" y="58408"/>
                  </a:cubicBezTo>
                  <a:cubicBezTo>
                    <a:pt x="565239" y="44438"/>
                    <a:pt x="439509" y="54598"/>
                    <a:pt x="348069" y="59678"/>
                  </a:cubicBezTo>
                  <a:cubicBezTo>
                    <a:pt x="265519" y="64758"/>
                    <a:pt x="174079" y="71108"/>
                    <a:pt x="114389" y="85078"/>
                  </a:cubicBezTo>
                  <a:cubicBezTo>
                    <a:pt x="76289" y="93968"/>
                    <a:pt x="40729" y="124448"/>
                    <a:pt x="21679" y="120638"/>
                  </a:cubicBezTo>
                  <a:cubicBezTo>
                    <a:pt x="11519" y="118098"/>
                    <a:pt x="2629" y="107938"/>
                    <a:pt x="89" y="100318"/>
                  </a:cubicBezTo>
                  <a:cubicBezTo>
                    <a:pt x="-1181" y="92698"/>
                    <a:pt x="11519" y="73648"/>
                    <a:pt x="11519" y="73648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134475" y="1033462"/>
            <a:ext cx="193358" cy="344805"/>
            <a:chOff x="0" y="0"/>
            <a:chExt cx="257810" cy="4597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0637" y="50146"/>
              <a:ext cx="160590" cy="360064"/>
            </a:xfrm>
            <a:custGeom>
              <a:avLst/>
              <a:gdLst/>
              <a:ahLst/>
              <a:cxnLst/>
              <a:rect r="r" b="b" t="t" l="l"/>
              <a:pathLst>
                <a:path h="360064" w="160590">
                  <a:moveTo>
                    <a:pt x="128433" y="24784"/>
                  </a:moveTo>
                  <a:cubicBezTo>
                    <a:pt x="132243" y="112414"/>
                    <a:pt x="150023" y="135274"/>
                    <a:pt x="155103" y="160674"/>
                  </a:cubicBezTo>
                  <a:cubicBezTo>
                    <a:pt x="158913" y="186074"/>
                    <a:pt x="165263" y="211474"/>
                    <a:pt x="155103" y="238144"/>
                  </a:cubicBezTo>
                  <a:cubicBezTo>
                    <a:pt x="138593" y="276244"/>
                    <a:pt x="64933" y="342284"/>
                    <a:pt x="39533" y="354984"/>
                  </a:cubicBezTo>
                  <a:cubicBezTo>
                    <a:pt x="30643" y="360064"/>
                    <a:pt x="23023" y="361334"/>
                    <a:pt x="16673" y="358794"/>
                  </a:cubicBezTo>
                  <a:cubicBezTo>
                    <a:pt x="10323" y="356254"/>
                    <a:pt x="1433" y="347364"/>
                    <a:pt x="163" y="341014"/>
                  </a:cubicBezTo>
                  <a:cubicBezTo>
                    <a:pt x="-1107" y="333394"/>
                    <a:pt x="5243" y="316884"/>
                    <a:pt x="12863" y="313074"/>
                  </a:cubicBezTo>
                  <a:cubicBezTo>
                    <a:pt x="17943" y="307994"/>
                    <a:pt x="30643" y="307994"/>
                    <a:pt x="35723" y="311804"/>
                  </a:cubicBezTo>
                  <a:cubicBezTo>
                    <a:pt x="43343" y="315614"/>
                    <a:pt x="50963" y="330854"/>
                    <a:pt x="49693" y="339744"/>
                  </a:cubicBezTo>
                  <a:cubicBezTo>
                    <a:pt x="49693" y="346094"/>
                    <a:pt x="42073" y="354984"/>
                    <a:pt x="35723" y="357524"/>
                  </a:cubicBezTo>
                  <a:cubicBezTo>
                    <a:pt x="29373" y="360064"/>
                    <a:pt x="17943" y="360064"/>
                    <a:pt x="11593" y="356254"/>
                  </a:cubicBezTo>
                  <a:cubicBezTo>
                    <a:pt x="5243" y="352444"/>
                    <a:pt x="-1107" y="344824"/>
                    <a:pt x="163" y="335934"/>
                  </a:cubicBezTo>
                  <a:cubicBezTo>
                    <a:pt x="1433" y="309264"/>
                    <a:pt x="97953" y="245764"/>
                    <a:pt x="108113" y="200044"/>
                  </a:cubicBezTo>
                  <a:cubicBezTo>
                    <a:pt x="115733" y="163214"/>
                    <a:pt x="81443" y="122574"/>
                    <a:pt x="77633" y="89554"/>
                  </a:cubicBezTo>
                  <a:cubicBezTo>
                    <a:pt x="73823" y="61614"/>
                    <a:pt x="70013" y="26054"/>
                    <a:pt x="80173" y="12084"/>
                  </a:cubicBezTo>
                  <a:cubicBezTo>
                    <a:pt x="86523" y="3194"/>
                    <a:pt x="103033" y="-1886"/>
                    <a:pt x="111923" y="654"/>
                  </a:cubicBezTo>
                  <a:cubicBezTo>
                    <a:pt x="119543" y="3194"/>
                    <a:pt x="128433" y="24784"/>
                    <a:pt x="128433" y="24784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061569" y="952976"/>
            <a:ext cx="661035" cy="160972"/>
            <a:chOff x="0" y="0"/>
            <a:chExt cx="881380" cy="21463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0711" y="43192"/>
              <a:ext cx="779869" cy="120965"/>
            </a:xfrm>
            <a:custGeom>
              <a:avLst/>
              <a:gdLst/>
              <a:ahLst/>
              <a:cxnLst/>
              <a:rect r="r" b="b" t="t" l="l"/>
              <a:pathLst>
                <a:path h="120965" w="779869">
                  <a:moveTo>
                    <a:pt x="11519" y="73648"/>
                  </a:moveTo>
                  <a:cubicBezTo>
                    <a:pt x="137249" y="25388"/>
                    <a:pt x="170269" y="21578"/>
                    <a:pt x="223609" y="16498"/>
                  </a:cubicBezTo>
                  <a:cubicBezTo>
                    <a:pt x="321399" y="7608"/>
                    <a:pt x="542379" y="-10172"/>
                    <a:pt x="640169" y="7608"/>
                  </a:cubicBezTo>
                  <a:cubicBezTo>
                    <a:pt x="697319" y="17768"/>
                    <a:pt x="749389" y="41898"/>
                    <a:pt x="768439" y="58408"/>
                  </a:cubicBezTo>
                  <a:cubicBezTo>
                    <a:pt x="776059" y="66028"/>
                    <a:pt x="779869" y="72378"/>
                    <a:pt x="779869" y="79998"/>
                  </a:cubicBezTo>
                  <a:cubicBezTo>
                    <a:pt x="779869" y="86348"/>
                    <a:pt x="773519" y="96508"/>
                    <a:pt x="768439" y="100318"/>
                  </a:cubicBezTo>
                  <a:cubicBezTo>
                    <a:pt x="762089" y="104128"/>
                    <a:pt x="750659" y="105398"/>
                    <a:pt x="744309" y="102858"/>
                  </a:cubicBezTo>
                  <a:cubicBezTo>
                    <a:pt x="737959" y="100318"/>
                    <a:pt x="730339" y="91428"/>
                    <a:pt x="729069" y="85078"/>
                  </a:cubicBezTo>
                  <a:cubicBezTo>
                    <a:pt x="727799" y="77458"/>
                    <a:pt x="731609" y="67298"/>
                    <a:pt x="735419" y="62218"/>
                  </a:cubicBezTo>
                  <a:cubicBezTo>
                    <a:pt x="740499" y="57138"/>
                    <a:pt x="751929" y="52058"/>
                    <a:pt x="758279" y="54598"/>
                  </a:cubicBezTo>
                  <a:cubicBezTo>
                    <a:pt x="765899" y="55868"/>
                    <a:pt x="779869" y="68568"/>
                    <a:pt x="779869" y="77458"/>
                  </a:cubicBezTo>
                  <a:cubicBezTo>
                    <a:pt x="779869" y="86348"/>
                    <a:pt x="767169" y="101588"/>
                    <a:pt x="755739" y="105398"/>
                  </a:cubicBezTo>
                  <a:cubicBezTo>
                    <a:pt x="731609" y="110478"/>
                    <a:pt x="687159" y="67298"/>
                    <a:pt x="638899" y="58408"/>
                  </a:cubicBezTo>
                  <a:cubicBezTo>
                    <a:pt x="565239" y="44438"/>
                    <a:pt x="439509" y="54598"/>
                    <a:pt x="348069" y="59678"/>
                  </a:cubicBezTo>
                  <a:cubicBezTo>
                    <a:pt x="265519" y="64758"/>
                    <a:pt x="174079" y="71108"/>
                    <a:pt x="114389" y="85078"/>
                  </a:cubicBezTo>
                  <a:cubicBezTo>
                    <a:pt x="76289" y="93968"/>
                    <a:pt x="40729" y="124448"/>
                    <a:pt x="21679" y="120638"/>
                  </a:cubicBezTo>
                  <a:cubicBezTo>
                    <a:pt x="11519" y="118098"/>
                    <a:pt x="2629" y="107938"/>
                    <a:pt x="89" y="100318"/>
                  </a:cubicBezTo>
                  <a:cubicBezTo>
                    <a:pt x="-1181" y="92698"/>
                    <a:pt x="11519" y="73648"/>
                    <a:pt x="11519" y="73648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535394" y="861060"/>
            <a:ext cx="193358" cy="344805"/>
            <a:chOff x="0" y="0"/>
            <a:chExt cx="257810" cy="4597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50637" y="50146"/>
              <a:ext cx="160590" cy="360064"/>
            </a:xfrm>
            <a:custGeom>
              <a:avLst/>
              <a:gdLst/>
              <a:ahLst/>
              <a:cxnLst/>
              <a:rect r="r" b="b" t="t" l="l"/>
              <a:pathLst>
                <a:path h="360064" w="160590">
                  <a:moveTo>
                    <a:pt x="128433" y="24784"/>
                  </a:moveTo>
                  <a:cubicBezTo>
                    <a:pt x="132243" y="112414"/>
                    <a:pt x="150023" y="135274"/>
                    <a:pt x="155103" y="160674"/>
                  </a:cubicBezTo>
                  <a:cubicBezTo>
                    <a:pt x="158913" y="186074"/>
                    <a:pt x="165263" y="211474"/>
                    <a:pt x="155103" y="238144"/>
                  </a:cubicBezTo>
                  <a:cubicBezTo>
                    <a:pt x="138593" y="276244"/>
                    <a:pt x="64933" y="342284"/>
                    <a:pt x="39533" y="354984"/>
                  </a:cubicBezTo>
                  <a:cubicBezTo>
                    <a:pt x="30643" y="360064"/>
                    <a:pt x="23023" y="361334"/>
                    <a:pt x="16673" y="358794"/>
                  </a:cubicBezTo>
                  <a:cubicBezTo>
                    <a:pt x="10323" y="356254"/>
                    <a:pt x="1433" y="347364"/>
                    <a:pt x="163" y="341014"/>
                  </a:cubicBezTo>
                  <a:cubicBezTo>
                    <a:pt x="-1107" y="333394"/>
                    <a:pt x="5243" y="316884"/>
                    <a:pt x="12863" y="313074"/>
                  </a:cubicBezTo>
                  <a:cubicBezTo>
                    <a:pt x="17943" y="307994"/>
                    <a:pt x="30643" y="307994"/>
                    <a:pt x="35723" y="311804"/>
                  </a:cubicBezTo>
                  <a:cubicBezTo>
                    <a:pt x="43343" y="315614"/>
                    <a:pt x="50963" y="330854"/>
                    <a:pt x="49693" y="339744"/>
                  </a:cubicBezTo>
                  <a:cubicBezTo>
                    <a:pt x="49693" y="346094"/>
                    <a:pt x="42073" y="354984"/>
                    <a:pt x="35723" y="357524"/>
                  </a:cubicBezTo>
                  <a:cubicBezTo>
                    <a:pt x="29373" y="360064"/>
                    <a:pt x="17943" y="360064"/>
                    <a:pt x="11593" y="356254"/>
                  </a:cubicBezTo>
                  <a:cubicBezTo>
                    <a:pt x="5243" y="352444"/>
                    <a:pt x="-1107" y="344824"/>
                    <a:pt x="163" y="335934"/>
                  </a:cubicBezTo>
                  <a:cubicBezTo>
                    <a:pt x="1433" y="309264"/>
                    <a:pt x="97953" y="245764"/>
                    <a:pt x="108113" y="200044"/>
                  </a:cubicBezTo>
                  <a:cubicBezTo>
                    <a:pt x="115733" y="163214"/>
                    <a:pt x="81443" y="122574"/>
                    <a:pt x="77633" y="89554"/>
                  </a:cubicBezTo>
                  <a:cubicBezTo>
                    <a:pt x="73823" y="61614"/>
                    <a:pt x="70013" y="26054"/>
                    <a:pt x="80173" y="12084"/>
                  </a:cubicBezTo>
                  <a:cubicBezTo>
                    <a:pt x="86523" y="3194"/>
                    <a:pt x="103033" y="-1886"/>
                    <a:pt x="111923" y="654"/>
                  </a:cubicBezTo>
                  <a:cubicBezTo>
                    <a:pt x="119543" y="3194"/>
                    <a:pt x="128433" y="24784"/>
                    <a:pt x="128433" y="24784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876152" y="757237"/>
            <a:ext cx="208752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[Se</a:t>
            </a: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pt 2024 -Feb 2025]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651107" y="3163876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651107" y="5579150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51107" y="7824822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94234" y="10123130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06878" y="2585185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543425" y="3350826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603321" y="6747119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603321" y="10145694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Fig:8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3257" y="71006"/>
            <a:ext cx="142365" cy="3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62202" y="1321082"/>
            <a:ext cx="6988911" cy="4520952"/>
          </a:xfrm>
          <a:custGeom>
            <a:avLst/>
            <a:gdLst/>
            <a:ahLst/>
            <a:cxnLst/>
            <a:rect r="r" b="b" t="t" l="l"/>
            <a:pathLst>
              <a:path h="4520952" w="6988911">
                <a:moveTo>
                  <a:pt x="0" y="0"/>
                </a:moveTo>
                <a:lnTo>
                  <a:pt x="6988911" y="0"/>
                </a:lnTo>
                <a:lnTo>
                  <a:pt x="6988911" y="4520952"/>
                </a:lnTo>
                <a:lnTo>
                  <a:pt x="0" y="4520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5487" y="3784522"/>
            <a:ext cx="5636819" cy="2797076"/>
            <a:chOff x="0" y="0"/>
            <a:chExt cx="7515758" cy="37294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515758" cy="3729434"/>
            </a:xfrm>
            <a:custGeom>
              <a:avLst/>
              <a:gdLst/>
              <a:ahLst/>
              <a:cxnLst/>
              <a:rect r="r" b="b" t="t" l="l"/>
              <a:pathLst>
                <a:path h="3729434" w="7515758">
                  <a:moveTo>
                    <a:pt x="0" y="0"/>
                  </a:moveTo>
                  <a:lnTo>
                    <a:pt x="7515758" y="0"/>
                  </a:lnTo>
                  <a:lnTo>
                    <a:pt x="7515758" y="3729434"/>
                  </a:lnTo>
                  <a:lnTo>
                    <a:pt x="0" y="37294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823091" y="401029"/>
              <a:ext cx="1664690" cy="1269326"/>
            </a:xfrm>
            <a:custGeom>
              <a:avLst/>
              <a:gdLst/>
              <a:ahLst/>
              <a:cxnLst/>
              <a:rect r="r" b="b" t="t" l="l"/>
              <a:pathLst>
                <a:path h="1269326" w="1664690">
                  <a:moveTo>
                    <a:pt x="0" y="0"/>
                  </a:moveTo>
                  <a:lnTo>
                    <a:pt x="1664691" y="0"/>
                  </a:lnTo>
                  <a:lnTo>
                    <a:pt x="1664691" y="1269326"/>
                  </a:lnTo>
                  <a:lnTo>
                    <a:pt x="0" y="1269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19" t="-12275" r="-7510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0521" y="861781"/>
            <a:ext cx="6046751" cy="2817966"/>
          </a:xfrm>
          <a:custGeom>
            <a:avLst/>
            <a:gdLst/>
            <a:ahLst/>
            <a:cxnLst/>
            <a:rect r="r" b="b" t="t" l="l"/>
            <a:pathLst>
              <a:path h="2817966" w="6046751">
                <a:moveTo>
                  <a:pt x="0" y="0"/>
                </a:moveTo>
                <a:lnTo>
                  <a:pt x="6046750" y="0"/>
                </a:lnTo>
                <a:lnTo>
                  <a:pt x="6046750" y="2817966"/>
                </a:lnTo>
                <a:lnTo>
                  <a:pt x="0" y="2817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282521" y="174654"/>
            <a:ext cx="4137403" cy="9937692"/>
            <a:chOff x="0" y="0"/>
            <a:chExt cx="718486" cy="17257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8486" cy="1725742"/>
            </a:xfrm>
            <a:custGeom>
              <a:avLst/>
              <a:gdLst/>
              <a:ahLst/>
              <a:cxnLst/>
              <a:rect r="r" b="b" t="t" l="l"/>
              <a:pathLst>
                <a:path h="1725742" w="718486">
                  <a:moveTo>
                    <a:pt x="143671" y="0"/>
                  </a:moveTo>
                  <a:lnTo>
                    <a:pt x="574815" y="0"/>
                  </a:lnTo>
                  <a:cubicBezTo>
                    <a:pt x="654162" y="0"/>
                    <a:pt x="718486" y="64324"/>
                    <a:pt x="718486" y="143671"/>
                  </a:cubicBezTo>
                  <a:lnTo>
                    <a:pt x="718486" y="1582071"/>
                  </a:lnTo>
                  <a:cubicBezTo>
                    <a:pt x="718486" y="1661419"/>
                    <a:pt x="654162" y="1725742"/>
                    <a:pt x="574815" y="1725742"/>
                  </a:cubicBezTo>
                  <a:lnTo>
                    <a:pt x="143671" y="1725742"/>
                  </a:lnTo>
                  <a:cubicBezTo>
                    <a:pt x="64324" y="1725742"/>
                    <a:pt x="0" y="1661419"/>
                    <a:pt x="0" y="1582071"/>
                  </a:cubicBezTo>
                  <a:lnTo>
                    <a:pt x="0" y="143671"/>
                  </a:lnTo>
                  <a:cubicBezTo>
                    <a:pt x="0" y="64324"/>
                    <a:pt x="64324" y="0"/>
                    <a:pt x="143671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718486" cy="1773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4923721">
            <a:off x="3397233" y="8271206"/>
            <a:ext cx="540624" cy="162187"/>
          </a:xfrm>
          <a:custGeom>
            <a:avLst/>
            <a:gdLst/>
            <a:ahLst/>
            <a:cxnLst/>
            <a:rect r="r" b="b" t="t" l="l"/>
            <a:pathLst>
              <a:path h="162187" w="540624">
                <a:moveTo>
                  <a:pt x="0" y="0"/>
                </a:moveTo>
                <a:lnTo>
                  <a:pt x="540624" y="0"/>
                </a:lnTo>
                <a:lnTo>
                  <a:pt x="540624" y="162187"/>
                </a:lnTo>
                <a:lnTo>
                  <a:pt x="0" y="1621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67802" y="1615440"/>
            <a:ext cx="167640" cy="191452"/>
            <a:chOff x="0" y="0"/>
            <a:chExt cx="223520" cy="2552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49030"/>
              <a:ext cx="120813" cy="156736"/>
            </a:xfrm>
            <a:custGeom>
              <a:avLst/>
              <a:gdLst/>
              <a:ahLst/>
              <a:cxnLst/>
              <a:rect r="r" b="b" t="t" l="l"/>
              <a:pathLst>
                <a:path h="156736" w="120813">
                  <a:moveTo>
                    <a:pt x="0" y="118610"/>
                  </a:moveTo>
                  <a:cubicBezTo>
                    <a:pt x="91440" y="-770"/>
                    <a:pt x="104140" y="-770"/>
                    <a:pt x="110490" y="4310"/>
                  </a:cubicBezTo>
                  <a:cubicBezTo>
                    <a:pt x="118110" y="9390"/>
                    <a:pt x="121920" y="33520"/>
                    <a:pt x="116840" y="39870"/>
                  </a:cubicBezTo>
                  <a:cubicBezTo>
                    <a:pt x="111760" y="47490"/>
                    <a:pt x="87630" y="48760"/>
                    <a:pt x="80010" y="43680"/>
                  </a:cubicBezTo>
                  <a:cubicBezTo>
                    <a:pt x="73660" y="41140"/>
                    <a:pt x="69850" y="28440"/>
                    <a:pt x="71120" y="22090"/>
                  </a:cubicBezTo>
                  <a:cubicBezTo>
                    <a:pt x="72390" y="14470"/>
                    <a:pt x="78740" y="5580"/>
                    <a:pt x="85090" y="1770"/>
                  </a:cubicBezTo>
                  <a:cubicBezTo>
                    <a:pt x="91440" y="-770"/>
                    <a:pt x="102870" y="-770"/>
                    <a:pt x="107950" y="3040"/>
                  </a:cubicBezTo>
                  <a:cubicBezTo>
                    <a:pt x="115570" y="6850"/>
                    <a:pt x="121920" y="18280"/>
                    <a:pt x="120650" y="30980"/>
                  </a:cubicBezTo>
                  <a:cubicBezTo>
                    <a:pt x="119380" y="56380"/>
                    <a:pt x="66040" y="130040"/>
                    <a:pt x="41910" y="146550"/>
                  </a:cubicBezTo>
                  <a:cubicBezTo>
                    <a:pt x="30480" y="154170"/>
                    <a:pt x="16510" y="159250"/>
                    <a:pt x="10160" y="155440"/>
                  </a:cubicBezTo>
                  <a:cubicBezTo>
                    <a:pt x="2540" y="150360"/>
                    <a:pt x="0" y="118610"/>
                    <a:pt x="0" y="118610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46860" y="1623060"/>
            <a:ext cx="192405" cy="176212"/>
            <a:chOff x="0" y="0"/>
            <a:chExt cx="256540" cy="2349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50552" y="49966"/>
              <a:ext cx="156211" cy="134347"/>
            </a:xfrm>
            <a:custGeom>
              <a:avLst/>
              <a:gdLst/>
              <a:ahLst/>
              <a:cxnLst/>
              <a:rect r="r" b="b" t="t" l="l"/>
              <a:pathLst>
                <a:path h="134347" w="156211">
                  <a:moveTo>
                    <a:pt x="15488" y="85924"/>
                  </a:moveTo>
                  <a:cubicBezTo>
                    <a:pt x="90418" y="38934"/>
                    <a:pt x="104388" y="4644"/>
                    <a:pt x="120898" y="834"/>
                  </a:cubicBezTo>
                  <a:cubicBezTo>
                    <a:pt x="132328" y="-1706"/>
                    <a:pt x="150108" y="8454"/>
                    <a:pt x="155188" y="16074"/>
                  </a:cubicBezTo>
                  <a:cubicBezTo>
                    <a:pt x="157728" y="21154"/>
                    <a:pt x="155188" y="33854"/>
                    <a:pt x="151378" y="38934"/>
                  </a:cubicBezTo>
                  <a:cubicBezTo>
                    <a:pt x="147568" y="45284"/>
                    <a:pt x="137408" y="50364"/>
                    <a:pt x="129788" y="50364"/>
                  </a:cubicBezTo>
                  <a:cubicBezTo>
                    <a:pt x="123438" y="50364"/>
                    <a:pt x="113278" y="44014"/>
                    <a:pt x="109468" y="38934"/>
                  </a:cubicBezTo>
                  <a:cubicBezTo>
                    <a:pt x="105658" y="31314"/>
                    <a:pt x="106928" y="13534"/>
                    <a:pt x="112008" y="7184"/>
                  </a:cubicBezTo>
                  <a:cubicBezTo>
                    <a:pt x="117088" y="2104"/>
                    <a:pt x="134868" y="-2976"/>
                    <a:pt x="142488" y="2104"/>
                  </a:cubicBezTo>
                  <a:cubicBezTo>
                    <a:pt x="150108" y="5914"/>
                    <a:pt x="156458" y="23694"/>
                    <a:pt x="152648" y="36394"/>
                  </a:cubicBezTo>
                  <a:cubicBezTo>
                    <a:pt x="147568" y="57984"/>
                    <a:pt x="106928" y="88464"/>
                    <a:pt x="84068" y="104974"/>
                  </a:cubicBezTo>
                  <a:cubicBezTo>
                    <a:pt x="66288" y="118944"/>
                    <a:pt x="47238" y="134184"/>
                    <a:pt x="31998" y="134184"/>
                  </a:cubicBezTo>
                  <a:cubicBezTo>
                    <a:pt x="20568" y="135454"/>
                    <a:pt x="4058" y="129104"/>
                    <a:pt x="248" y="121484"/>
                  </a:cubicBezTo>
                  <a:cubicBezTo>
                    <a:pt x="-2292" y="112594"/>
                    <a:pt x="15488" y="85924"/>
                    <a:pt x="15488" y="85924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666875" y="1630680"/>
            <a:ext cx="202883" cy="186690"/>
            <a:chOff x="0" y="0"/>
            <a:chExt cx="270510" cy="248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0567" y="49804"/>
              <a:ext cx="168071" cy="147085"/>
            </a:xfrm>
            <a:custGeom>
              <a:avLst/>
              <a:gdLst/>
              <a:ahLst/>
              <a:cxnLst/>
              <a:rect r="r" b="b" t="t" l="l"/>
              <a:pathLst>
                <a:path h="147085" w="168071">
                  <a:moveTo>
                    <a:pt x="16743" y="97516"/>
                  </a:moveTo>
                  <a:cubicBezTo>
                    <a:pt x="110723" y="31476"/>
                    <a:pt x="117073" y="8616"/>
                    <a:pt x="129773" y="3536"/>
                  </a:cubicBezTo>
                  <a:cubicBezTo>
                    <a:pt x="139933" y="-274"/>
                    <a:pt x="155173" y="996"/>
                    <a:pt x="160253" y="7346"/>
                  </a:cubicBezTo>
                  <a:cubicBezTo>
                    <a:pt x="166603" y="13696"/>
                    <a:pt x="165333" y="37826"/>
                    <a:pt x="158983" y="44176"/>
                  </a:cubicBezTo>
                  <a:cubicBezTo>
                    <a:pt x="155173" y="49256"/>
                    <a:pt x="143743" y="51796"/>
                    <a:pt x="136123" y="49256"/>
                  </a:cubicBezTo>
                  <a:cubicBezTo>
                    <a:pt x="129773" y="47986"/>
                    <a:pt x="119613" y="40366"/>
                    <a:pt x="118343" y="34016"/>
                  </a:cubicBezTo>
                  <a:cubicBezTo>
                    <a:pt x="117073" y="25126"/>
                    <a:pt x="127233" y="4806"/>
                    <a:pt x="134853" y="996"/>
                  </a:cubicBezTo>
                  <a:cubicBezTo>
                    <a:pt x="141203" y="-1544"/>
                    <a:pt x="152633" y="996"/>
                    <a:pt x="158983" y="6076"/>
                  </a:cubicBezTo>
                  <a:cubicBezTo>
                    <a:pt x="164063" y="9886"/>
                    <a:pt x="169143" y="18776"/>
                    <a:pt x="167873" y="27666"/>
                  </a:cubicBezTo>
                  <a:cubicBezTo>
                    <a:pt x="165333" y="44176"/>
                    <a:pt x="133583" y="78466"/>
                    <a:pt x="110723" y="97516"/>
                  </a:cubicBezTo>
                  <a:cubicBezTo>
                    <a:pt x="87863" y="117836"/>
                    <a:pt x="47223" y="148316"/>
                    <a:pt x="26903" y="147046"/>
                  </a:cubicBezTo>
                  <a:cubicBezTo>
                    <a:pt x="14203" y="147046"/>
                    <a:pt x="1503" y="135616"/>
                    <a:pt x="233" y="126726"/>
                  </a:cubicBezTo>
                  <a:cubicBezTo>
                    <a:pt x="-2307" y="119106"/>
                    <a:pt x="16743" y="97516"/>
                    <a:pt x="16743" y="97516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803083" y="1629727"/>
            <a:ext cx="235267" cy="194310"/>
            <a:chOff x="0" y="0"/>
            <a:chExt cx="313690" cy="259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725" y="50800"/>
              <a:ext cx="211219" cy="157977"/>
            </a:xfrm>
            <a:custGeom>
              <a:avLst/>
              <a:gdLst/>
              <a:ahLst/>
              <a:cxnLst/>
              <a:rect r="r" b="b" t="t" l="l"/>
              <a:pathLst>
                <a:path h="157977" w="211219">
                  <a:moveTo>
                    <a:pt x="14045" y="110490"/>
                  </a:moveTo>
                  <a:cubicBezTo>
                    <a:pt x="113105" y="60960"/>
                    <a:pt x="109295" y="50800"/>
                    <a:pt x="116915" y="40640"/>
                  </a:cubicBezTo>
                  <a:cubicBezTo>
                    <a:pt x="129615" y="26670"/>
                    <a:pt x="165175" y="1270"/>
                    <a:pt x="182955" y="0"/>
                  </a:cubicBezTo>
                  <a:cubicBezTo>
                    <a:pt x="193115" y="0"/>
                    <a:pt x="207085" y="7620"/>
                    <a:pt x="209625" y="15240"/>
                  </a:cubicBezTo>
                  <a:cubicBezTo>
                    <a:pt x="212165" y="22860"/>
                    <a:pt x="203275" y="44450"/>
                    <a:pt x="195655" y="49530"/>
                  </a:cubicBezTo>
                  <a:cubicBezTo>
                    <a:pt x="189305" y="53340"/>
                    <a:pt x="177875" y="50800"/>
                    <a:pt x="171525" y="46990"/>
                  </a:cubicBezTo>
                  <a:cubicBezTo>
                    <a:pt x="166445" y="41910"/>
                    <a:pt x="161365" y="33020"/>
                    <a:pt x="161365" y="25400"/>
                  </a:cubicBezTo>
                  <a:cubicBezTo>
                    <a:pt x="161365" y="17780"/>
                    <a:pt x="166445" y="8890"/>
                    <a:pt x="172795" y="5080"/>
                  </a:cubicBezTo>
                  <a:cubicBezTo>
                    <a:pt x="177875" y="0"/>
                    <a:pt x="189305" y="-1270"/>
                    <a:pt x="195655" y="2540"/>
                  </a:cubicBezTo>
                  <a:cubicBezTo>
                    <a:pt x="202005" y="5080"/>
                    <a:pt x="209625" y="13970"/>
                    <a:pt x="210895" y="20320"/>
                  </a:cubicBezTo>
                  <a:cubicBezTo>
                    <a:pt x="212165" y="26670"/>
                    <a:pt x="209625" y="36830"/>
                    <a:pt x="204545" y="43180"/>
                  </a:cubicBezTo>
                  <a:cubicBezTo>
                    <a:pt x="196925" y="53340"/>
                    <a:pt x="165175" y="57150"/>
                    <a:pt x="156285" y="68580"/>
                  </a:cubicBezTo>
                  <a:cubicBezTo>
                    <a:pt x="149935" y="77470"/>
                    <a:pt x="156285" y="90170"/>
                    <a:pt x="149935" y="99060"/>
                  </a:cubicBezTo>
                  <a:cubicBezTo>
                    <a:pt x="139775" y="111760"/>
                    <a:pt x="109295" y="123190"/>
                    <a:pt x="88975" y="133350"/>
                  </a:cubicBezTo>
                  <a:cubicBezTo>
                    <a:pt x="66115" y="142240"/>
                    <a:pt x="34365" y="161290"/>
                    <a:pt x="19125" y="157480"/>
                  </a:cubicBezTo>
                  <a:cubicBezTo>
                    <a:pt x="8965" y="154940"/>
                    <a:pt x="1345" y="143510"/>
                    <a:pt x="75" y="135890"/>
                  </a:cubicBezTo>
                  <a:cubicBezTo>
                    <a:pt x="-1195" y="127000"/>
                    <a:pt x="14045" y="110490"/>
                    <a:pt x="14045" y="110490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964055" y="1622108"/>
            <a:ext cx="194310" cy="178117"/>
            <a:chOff x="0" y="0"/>
            <a:chExt cx="259080" cy="2374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725" y="50476"/>
              <a:ext cx="157607" cy="136707"/>
            </a:xfrm>
            <a:custGeom>
              <a:avLst/>
              <a:gdLst/>
              <a:ahLst/>
              <a:cxnLst/>
              <a:rect r="r" b="b" t="t" l="l"/>
              <a:pathLst>
                <a:path h="136707" w="157607">
                  <a:moveTo>
                    <a:pt x="14045" y="87954"/>
                  </a:moveTo>
                  <a:cubicBezTo>
                    <a:pt x="83895" y="51124"/>
                    <a:pt x="100405" y="15564"/>
                    <a:pt x="115645" y="6674"/>
                  </a:cubicBezTo>
                  <a:cubicBezTo>
                    <a:pt x="123265" y="1594"/>
                    <a:pt x="132155" y="-946"/>
                    <a:pt x="138505" y="324"/>
                  </a:cubicBezTo>
                  <a:cubicBezTo>
                    <a:pt x="144855" y="1594"/>
                    <a:pt x="153745" y="9214"/>
                    <a:pt x="156285" y="15564"/>
                  </a:cubicBezTo>
                  <a:cubicBezTo>
                    <a:pt x="158825" y="23184"/>
                    <a:pt x="157555" y="34614"/>
                    <a:pt x="153745" y="39694"/>
                  </a:cubicBezTo>
                  <a:cubicBezTo>
                    <a:pt x="149935" y="46044"/>
                    <a:pt x="139775" y="51124"/>
                    <a:pt x="132155" y="51124"/>
                  </a:cubicBezTo>
                  <a:cubicBezTo>
                    <a:pt x="125805" y="51124"/>
                    <a:pt x="115645" y="44774"/>
                    <a:pt x="111835" y="39694"/>
                  </a:cubicBezTo>
                  <a:cubicBezTo>
                    <a:pt x="108025" y="33344"/>
                    <a:pt x="106755" y="21914"/>
                    <a:pt x="109295" y="15564"/>
                  </a:cubicBezTo>
                  <a:cubicBezTo>
                    <a:pt x="111835" y="9214"/>
                    <a:pt x="120725" y="1594"/>
                    <a:pt x="127075" y="324"/>
                  </a:cubicBezTo>
                  <a:cubicBezTo>
                    <a:pt x="134695" y="-946"/>
                    <a:pt x="146125" y="1594"/>
                    <a:pt x="149935" y="6674"/>
                  </a:cubicBezTo>
                  <a:cubicBezTo>
                    <a:pt x="156285" y="13024"/>
                    <a:pt x="158825" y="25724"/>
                    <a:pt x="155015" y="37154"/>
                  </a:cubicBezTo>
                  <a:cubicBezTo>
                    <a:pt x="149935" y="56204"/>
                    <a:pt x="118185" y="89224"/>
                    <a:pt x="94055" y="105734"/>
                  </a:cubicBezTo>
                  <a:cubicBezTo>
                    <a:pt x="72465" y="120974"/>
                    <a:pt x="34365" y="140024"/>
                    <a:pt x="19125" y="136214"/>
                  </a:cubicBezTo>
                  <a:cubicBezTo>
                    <a:pt x="8965" y="133674"/>
                    <a:pt x="1345" y="122244"/>
                    <a:pt x="75" y="113354"/>
                  </a:cubicBezTo>
                  <a:cubicBezTo>
                    <a:pt x="-1195" y="105734"/>
                    <a:pt x="14045" y="87954"/>
                    <a:pt x="14045" y="87954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068830" y="1622108"/>
            <a:ext cx="219075" cy="170498"/>
            <a:chOff x="0" y="0"/>
            <a:chExt cx="292100" cy="2273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743" y="50800"/>
              <a:ext cx="190679" cy="124542"/>
            </a:xfrm>
            <a:custGeom>
              <a:avLst/>
              <a:gdLst/>
              <a:ahLst/>
              <a:cxnLst/>
              <a:rect r="r" b="b" t="t" l="l"/>
              <a:pathLst>
                <a:path h="124542" w="190679">
                  <a:moveTo>
                    <a:pt x="19107" y="74930"/>
                  </a:moveTo>
                  <a:cubicBezTo>
                    <a:pt x="100387" y="44450"/>
                    <a:pt x="138487" y="0"/>
                    <a:pt x="160077" y="0"/>
                  </a:cubicBezTo>
                  <a:cubicBezTo>
                    <a:pt x="172777" y="0"/>
                    <a:pt x="188017" y="12700"/>
                    <a:pt x="190557" y="21590"/>
                  </a:cubicBezTo>
                  <a:cubicBezTo>
                    <a:pt x="191827" y="29210"/>
                    <a:pt x="182937" y="45720"/>
                    <a:pt x="175317" y="48260"/>
                  </a:cubicBezTo>
                  <a:cubicBezTo>
                    <a:pt x="166427" y="50800"/>
                    <a:pt x="143567" y="41910"/>
                    <a:pt x="141027" y="34290"/>
                  </a:cubicBezTo>
                  <a:cubicBezTo>
                    <a:pt x="138487" y="26670"/>
                    <a:pt x="148647" y="3810"/>
                    <a:pt x="157537" y="1270"/>
                  </a:cubicBezTo>
                  <a:cubicBezTo>
                    <a:pt x="165157" y="-1270"/>
                    <a:pt x="186747" y="10160"/>
                    <a:pt x="189287" y="19050"/>
                  </a:cubicBezTo>
                  <a:cubicBezTo>
                    <a:pt x="191827" y="26670"/>
                    <a:pt x="186747" y="36830"/>
                    <a:pt x="177857" y="46990"/>
                  </a:cubicBezTo>
                  <a:cubicBezTo>
                    <a:pt x="156267" y="69850"/>
                    <a:pt x="62287" y="127000"/>
                    <a:pt x="31807" y="124460"/>
                  </a:cubicBezTo>
                  <a:cubicBezTo>
                    <a:pt x="16567" y="124460"/>
                    <a:pt x="1327" y="111760"/>
                    <a:pt x="57" y="102870"/>
                  </a:cubicBezTo>
                  <a:cubicBezTo>
                    <a:pt x="-1213" y="95250"/>
                    <a:pt x="19107" y="74930"/>
                    <a:pt x="19107" y="74930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2191702" y="1640205"/>
            <a:ext cx="167640" cy="151448"/>
            <a:chOff x="0" y="0"/>
            <a:chExt cx="223520" cy="2019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229" y="51475"/>
              <a:ext cx="123521" cy="98953"/>
            </a:xfrm>
            <a:custGeom>
              <a:avLst/>
              <a:gdLst/>
              <a:ahLst/>
              <a:cxnLst/>
              <a:rect r="r" b="b" t="t" l="l"/>
              <a:pathLst>
                <a:path h="98953" w="123521">
                  <a:moveTo>
                    <a:pt x="13271" y="51395"/>
                  </a:moveTo>
                  <a:cubicBezTo>
                    <a:pt x="100901" y="-3215"/>
                    <a:pt x="117411" y="4405"/>
                    <a:pt x="121221" y="12025"/>
                  </a:cubicBezTo>
                  <a:cubicBezTo>
                    <a:pt x="125031" y="18375"/>
                    <a:pt x="123761" y="29805"/>
                    <a:pt x="119951" y="36155"/>
                  </a:cubicBezTo>
                  <a:cubicBezTo>
                    <a:pt x="116141" y="41235"/>
                    <a:pt x="105981" y="46315"/>
                    <a:pt x="98361" y="47585"/>
                  </a:cubicBezTo>
                  <a:cubicBezTo>
                    <a:pt x="92011" y="47585"/>
                    <a:pt x="80581" y="42505"/>
                    <a:pt x="76771" y="36155"/>
                  </a:cubicBezTo>
                  <a:cubicBezTo>
                    <a:pt x="72961" y="29805"/>
                    <a:pt x="72961" y="10755"/>
                    <a:pt x="78041" y="5675"/>
                  </a:cubicBezTo>
                  <a:cubicBezTo>
                    <a:pt x="84391" y="-675"/>
                    <a:pt x="108521" y="-1945"/>
                    <a:pt x="114871" y="3135"/>
                  </a:cubicBezTo>
                  <a:cubicBezTo>
                    <a:pt x="121221" y="8215"/>
                    <a:pt x="125031" y="22185"/>
                    <a:pt x="121221" y="33615"/>
                  </a:cubicBezTo>
                  <a:cubicBezTo>
                    <a:pt x="112331" y="52665"/>
                    <a:pt x="55181" y="95845"/>
                    <a:pt x="32321" y="98385"/>
                  </a:cubicBezTo>
                  <a:cubicBezTo>
                    <a:pt x="19621" y="100925"/>
                    <a:pt x="4381" y="94575"/>
                    <a:pt x="571" y="86955"/>
                  </a:cubicBezTo>
                  <a:cubicBezTo>
                    <a:pt x="-3239" y="79335"/>
                    <a:pt x="13271" y="51395"/>
                    <a:pt x="13271" y="51395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420053" y="1757362"/>
            <a:ext cx="1018223" cy="131445"/>
            <a:chOff x="0" y="0"/>
            <a:chExt cx="1357630" cy="1752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0800" y="49360"/>
              <a:ext cx="1256030" cy="81690"/>
            </a:xfrm>
            <a:custGeom>
              <a:avLst/>
              <a:gdLst/>
              <a:ahLst/>
              <a:cxnLst/>
              <a:rect r="r" b="b" t="t" l="l"/>
              <a:pathLst>
                <a:path h="81690" w="1256030">
                  <a:moveTo>
                    <a:pt x="25400" y="12870"/>
                  </a:moveTo>
                  <a:cubicBezTo>
                    <a:pt x="1160780" y="19220"/>
                    <a:pt x="1203960" y="-6180"/>
                    <a:pt x="1230630" y="1440"/>
                  </a:cubicBezTo>
                  <a:cubicBezTo>
                    <a:pt x="1243330" y="6520"/>
                    <a:pt x="1256030" y="19220"/>
                    <a:pt x="1256030" y="28110"/>
                  </a:cubicBezTo>
                  <a:cubicBezTo>
                    <a:pt x="1256030" y="37000"/>
                    <a:pt x="1236980" y="53510"/>
                    <a:pt x="1228090" y="52240"/>
                  </a:cubicBezTo>
                  <a:cubicBezTo>
                    <a:pt x="1220470" y="52240"/>
                    <a:pt x="1203960" y="31920"/>
                    <a:pt x="1205230" y="24300"/>
                  </a:cubicBezTo>
                  <a:cubicBezTo>
                    <a:pt x="1206500" y="15410"/>
                    <a:pt x="1226820" y="1440"/>
                    <a:pt x="1235710" y="2710"/>
                  </a:cubicBezTo>
                  <a:cubicBezTo>
                    <a:pt x="1243330" y="2710"/>
                    <a:pt x="1254760" y="16680"/>
                    <a:pt x="1256030" y="25570"/>
                  </a:cubicBezTo>
                  <a:cubicBezTo>
                    <a:pt x="1256030" y="33190"/>
                    <a:pt x="1249680" y="44620"/>
                    <a:pt x="1239520" y="50970"/>
                  </a:cubicBezTo>
                  <a:cubicBezTo>
                    <a:pt x="1215390" y="66210"/>
                    <a:pt x="1159510" y="70020"/>
                    <a:pt x="1093470" y="75100"/>
                  </a:cubicBezTo>
                  <a:cubicBezTo>
                    <a:pt x="949960" y="87800"/>
                    <a:pt x="609600" y="78910"/>
                    <a:pt x="414020" y="75100"/>
                  </a:cubicBezTo>
                  <a:cubicBezTo>
                    <a:pt x="264160" y="72560"/>
                    <a:pt x="66040" y="89070"/>
                    <a:pt x="19050" y="63670"/>
                  </a:cubicBezTo>
                  <a:cubicBezTo>
                    <a:pt x="6350" y="56050"/>
                    <a:pt x="0" y="43350"/>
                    <a:pt x="0" y="35730"/>
                  </a:cubicBezTo>
                  <a:cubicBezTo>
                    <a:pt x="1270" y="26840"/>
                    <a:pt x="25400" y="12870"/>
                    <a:pt x="25400" y="12870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23888" y="2855595"/>
            <a:ext cx="859155" cy="140970"/>
            <a:chOff x="0" y="0"/>
            <a:chExt cx="1145540" cy="187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0800" y="48360"/>
              <a:ext cx="1042670" cy="105469"/>
            </a:xfrm>
            <a:custGeom>
              <a:avLst/>
              <a:gdLst/>
              <a:ahLst/>
              <a:cxnLst/>
              <a:rect r="r" b="b" t="t" l="l"/>
              <a:pathLst>
                <a:path h="105469" w="1042670">
                  <a:moveTo>
                    <a:pt x="25400" y="38000"/>
                  </a:moveTo>
                  <a:cubicBezTo>
                    <a:pt x="876300" y="30380"/>
                    <a:pt x="977900" y="-10260"/>
                    <a:pt x="1017270" y="2440"/>
                  </a:cubicBezTo>
                  <a:cubicBezTo>
                    <a:pt x="1031240" y="7520"/>
                    <a:pt x="1042670" y="20220"/>
                    <a:pt x="1042670" y="29110"/>
                  </a:cubicBezTo>
                  <a:cubicBezTo>
                    <a:pt x="1042670" y="36730"/>
                    <a:pt x="1031240" y="50700"/>
                    <a:pt x="1023620" y="53240"/>
                  </a:cubicBezTo>
                  <a:cubicBezTo>
                    <a:pt x="1017270" y="55780"/>
                    <a:pt x="1005840" y="51970"/>
                    <a:pt x="1000760" y="46890"/>
                  </a:cubicBezTo>
                  <a:cubicBezTo>
                    <a:pt x="995680" y="43080"/>
                    <a:pt x="990600" y="31650"/>
                    <a:pt x="991870" y="25300"/>
                  </a:cubicBezTo>
                  <a:cubicBezTo>
                    <a:pt x="994410" y="17680"/>
                    <a:pt x="1005840" y="3710"/>
                    <a:pt x="1013460" y="3710"/>
                  </a:cubicBezTo>
                  <a:cubicBezTo>
                    <a:pt x="1022350" y="2440"/>
                    <a:pt x="1037590" y="11330"/>
                    <a:pt x="1040130" y="18950"/>
                  </a:cubicBezTo>
                  <a:cubicBezTo>
                    <a:pt x="1043940" y="26570"/>
                    <a:pt x="1038860" y="43080"/>
                    <a:pt x="1026160" y="51970"/>
                  </a:cubicBezTo>
                  <a:cubicBezTo>
                    <a:pt x="993140" y="77370"/>
                    <a:pt x="880110" y="81180"/>
                    <a:pt x="773430" y="88800"/>
                  </a:cubicBezTo>
                  <a:cubicBezTo>
                    <a:pt x="589280" y="102770"/>
                    <a:pt x="101600" y="118010"/>
                    <a:pt x="25400" y="88800"/>
                  </a:cubicBezTo>
                  <a:cubicBezTo>
                    <a:pt x="8890" y="82450"/>
                    <a:pt x="0" y="74830"/>
                    <a:pt x="0" y="67210"/>
                  </a:cubicBezTo>
                  <a:cubicBezTo>
                    <a:pt x="0" y="58320"/>
                    <a:pt x="25400" y="38000"/>
                    <a:pt x="25400" y="38000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4993172" y="1888808"/>
            <a:ext cx="756728" cy="413363"/>
          </a:xfrm>
          <a:custGeom>
            <a:avLst/>
            <a:gdLst/>
            <a:ahLst/>
            <a:cxnLst/>
            <a:rect r="r" b="b" t="t" l="l"/>
            <a:pathLst>
              <a:path h="413363" w="756728">
                <a:moveTo>
                  <a:pt x="0" y="0"/>
                </a:moveTo>
                <a:lnTo>
                  <a:pt x="756728" y="0"/>
                </a:lnTo>
                <a:lnTo>
                  <a:pt x="756728" y="413362"/>
                </a:lnTo>
                <a:lnTo>
                  <a:pt x="0" y="4133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3549898" y="2270764"/>
            <a:ext cx="1643548" cy="557558"/>
          </a:xfrm>
          <a:custGeom>
            <a:avLst/>
            <a:gdLst/>
            <a:ahLst/>
            <a:cxnLst/>
            <a:rect r="r" b="b" t="t" l="l"/>
            <a:pathLst>
              <a:path h="557558" w="1643548">
                <a:moveTo>
                  <a:pt x="0" y="0"/>
                </a:moveTo>
                <a:lnTo>
                  <a:pt x="1643548" y="0"/>
                </a:lnTo>
                <a:lnTo>
                  <a:pt x="1643548" y="557558"/>
                </a:lnTo>
                <a:lnTo>
                  <a:pt x="0" y="5575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397" t="-19549" r="-15418" b="-15809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549898" y="1608241"/>
            <a:ext cx="1604891" cy="557748"/>
          </a:xfrm>
          <a:custGeom>
            <a:avLst/>
            <a:gdLst/>
            <a:ahLst/>
            <a:cxnLst/>
            <a:rect r="r" b="b" t="t" l="l"/>
            <a:pathLst>
              <a:path h="557748" w="1604891">
                <a:moveTo>
                  <a:pt x="0" y="0"/>
                </a:moveTo>
                <a:lnTo>
                  <a:pt x="1604892" y="0"/>
                </a:lnTo>
                <a:lnTo>
                  <a:pt x="1604892" y="557748"/>
                </a:lnTo>
                <a:lnTo>
                  <a:pt x="0" y="5577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493" t="-16112" r="-2773" b="-10955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984481" y="6203798"/>
            <a:ext cx="6866632" cy="3683012"/>
          </a:xfrm>
          <a:custGeom>
            <a:avLst/>
            <a:gdLst/>
            <a:ahLst/>
            <a:cxnLst/>
            <a:rect r="r" b="b" t="t" l="l"/>
            <a:pathLst>
              <a:path h="3683012" w="6866632">
                <a:moveTo>
                  <a:pt x="0" y="0"/>
                </a:moveTo>
                <a:lnTo>
                  <a:pt x="6866632" y="0"/>
                </a:lnTo>
                <a:lnTo>
                  <a:pt x="6866632" y="3683012"/>
                </a:lnTo>
                <a:lnTo>
                  <a:pt x="0" y="36830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77660" y="6705422"/>
            <a:ext cx="5347661" cy="3420094"/>
          </a:xfrm>
          <a:custGeom>
            <a:avLst/>
            <a:gdLst/>
            <a:ahLst/>
            <a:cxnLst/>
            <a:rect r="r" b="b" t="t" l="l"/>
            <a:pathLst>
              <a:path h="3420094" w="5347661">
                <a:moveTo>
                  <a:pt x="0" y="0"/>
                </a:moveTo>
                <a:lnTo>
                  <a:pt x="5347661" y="0"/>
                </a:lnTo>
                <a:lnTo>
                  <a:pt x="5347661" y="3420094"/>
                </a:lnTo>
                <a:lnTo>
                  <a:pt x="0" y="34200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494895" y="2437448"/>
            <a:ext cx="583882" cy="402908"/>
            <a:chOff x="0" y="0"/>
            <a:chExt cx="778510" cy="53721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48500" y="47788"/>
              <a:ext cx="680045" cy="441506"/>
            </a:xfrm>
            <a:custGeom>
              <a:avLst/>
              <a:gdLst/>
              <a:ahLst/>
              <a:cxnLst/>
              <a:rect r="r" b="b" t="t" l="l"/>
              <a:pathLst>
                <a:path h="441506" w="680045">
                  <a:moveTo>
                    <a:pt x="65800" y="354802"/>
                  </a:moveTo>
                  <a:cubicBezTo>
                    <a:pt x="427750" y="326862"/>
                    <a:pt x="535700" y="366232"/>
                    <a:pt x="581420" y="330672"/>
                  </a:cubicBezTo>
                  <a:cubicBezTo>
                    <a:pt x="622060" y="297652"/>
                    <a:pt x="628410" y="183352"/>
                    <a:pt x="628410" y="147792"/>
                  </a:cubicBezTo>
                  <a:cubicBezTo>
                    <a:pt x="627140" y="133822"/>
                    <a:pt x="624600" y="127472"/>
                    <a:pt x="618250" y="118582"/>
                  </a:cubicBezTo>
                  <a:cubicBezTo>
                    <a:pt x="608090" y="103342"/>
                    <a:pt x="585230" y="88102"/>
                    <a:pt x="564910" y="76672"/>
                  </a:cubicBezTo>
                  <a:cubicBezTo>
                    <a:pt x="540780" y="65242"/>
                    <a:pt x="519190" y="57622"/>
                    <a:pt x="483630" y="52542"/>
                  </a:cubicBezTo>
                  <a:cubicBezTo>
                    <a:pt x="413780" y="43652"/>
                    <a:pt x="239790" y="52542"/>
                    <a:pt x="175020" y="67782"/>
                  </a:cubicBezTo>
                  <a:cubicBezTo>
                    <a:pt x="143270" y="75402"/>
                    <a:pt x="126760" y="76672"/>
                    <a:pt x="107710" y="96992"/>
                  </a:cubicBezTo>
                  <a:cubicBezTo>
                    <a:pt x="78500" y="132552"/>
                    <a:pt x="56910" y="243042"/>
                    <a:pt x="54370" y="296382"/>
                  </a:cubicBezTo>
                  <a:cubicBezTo>
                    <a:pt x="51830" y="330672"/>
                    <a:pt x="51830" y="368772"/>
                    <a:pt x="67070" y="384012"/>
                  </a:cubicBezTo>
                  <a:cubicBezTo>
                    <a:pt x="78500" y="395442"/>
                    <a:pt x="114060" y="380202"/>
                    <a:pt x="126760" y="389092"/>
                  </a:cubicBezTo>
                  <a:cubicBezTo>
                    <a:pt x="135650" y="396712"/>
                    <a:pt x="143270" y="414492"/>
                    <a:pt x="142000" y="423382"/>
                  </a:cubicBezTo>
                  <a:cubicBezTo>
                    <a:pt x="139460" y="429732"/>
                    <a:pt x="130570" y="437352"/>
                    <a:pt x="122950" y="438622"/>
                  </a:cubicBezTo>
                  <a:cubicBezTo>
                    <a:pt x="115330" y="439892"/>
                    <a:pt x="100090" y="432272"/>
                    <a:pt x="95010" y="424652"/>
                  </a:cubicBezTo>
                  <a:cubicBezTo>
                    <a:pt x="91200" y="419572"/>
                    <a:pt x="91200" y="406872"/>
                    <a:pt x="96280" y="401792"/>
                  </a:cubicBezTo>
                  <a:cubicBezTo>
                    <a:pt x="100090" y="394172"/>
                    <a:pt x="115330" y="386552"/>
                    <a:pt x="124220" y="389092"/>
                  </a:cubicBezTo>
                  <a:cubicBezTo>
                    <a:pt x="131840" y="390362"/>
                    <a:pt x="143270" y="404332"/>
                    <a:pt x="143270" y="411952"/>
                  </a:cubicBezTo>
                  <a:cubicBezTo>
                    <a:pt x="143270" y="420842"/>
                    <a:pt x="135650" y="432272"/>
                    <a:pt x="125490" y="437352"/>
                  </a:cubicBezTo>
                  <a:cubicBezTo>
                    <a:pt x="111520" y="444972"/>
                    <a:pt x="69610" y="441162"/>
                    <a:pt x="53100" y="433542"/>
                  </a:cubicBezTo>
                  <a:cubicBezTo>
                    <a:pt x="40400" y="429732"/>
                    <a:pt x="34050" y="423382"/>
                    <a:pt x="26430" y="413222"/>
                  </a:cubicBezTo>
                  <a:cubicBezTo>
                    <a:pt x="16270" y="399252"/>
                    <a:pt x="6110" y="371312"/>
                    <a:pt x="2300" y="349722"/>
                  </a:cubicBezTo>
                  <a:cubicBezTo>
                    <a:pt x="-1510" y="331942"/>
                    <a:pt x="-240" y="320512"/>
                    <a:pt x="3570" y="296382"/>
                  </a:cubicBezTo>
                  <a:cubicBezTo>
                    <a:pt x="9920" y="246852"/>
                    <a:pt x="21350" y="110962"/>
                    <a:pt x="58180" y="66512"/>
                  </a:cubicBezTo>
                  <a:cubicBezTo>
                    <a:pt x="84850" y="34762"/>
                    <a:pt x="129300" y="27142"/>
                    <a:pt x="164860" y="16982"/>
                  </a:cubicBezTo>
                  <a:cubicBezTo>
                    <a:pt x="199150" y="8092"/>
                    <a:pt x="225820" y="8092"/>
                    <a:pt x="266460" y="5552"/>
                  </a:cubicBezTo>
                  <a:cubicBezTo>
                    <a:pt x="327420" y="1742"/>
                    <a:pt x="440450" y="-3338"/>
                    <a:pt x="493790" y="3012"/>
                  </a:cubicBezTo>
                  <a:cubicBezTo>
                    <a:pt x="523000" y="6822"/>
                    <a:pt x="539510" y="10632"/>
                    <a:pt x="562370" y="20792"/>
                  </a:cubicBezTo>
                  <a:cubicBezTo>
                    <a:pt x="587770" y="30952"/>
                    <a:pt x="616980" y="46192"/>
                    <a:pt x="637300" y="63972"/>
                  </a:cubicBezTo>
                  <a:cubicBezTo>
                    <a:pt x="655080" y="80482"/>
                    <a:pt x="671590" y="105882"/>
                    <a:pt x="677940" y="123662"/>
                  </a:cubicBezTo>
                  <a:cubicBezTo>
                    <a:pt x="680480" y="133822"/>
                    <a:pt x="680480" y="137632"/>
                    <a:pt x="679210" y="151602"/>
                  </a:cubicBezTo>
                  <a:cubicBezTo>
                    <a:pt x="674130" y="189702"/>
                    <a:pt x="650000" y="335752"/>
                    <a:pt x="622060" y="364962"/>
                  </a:cubicBezTo>
                  <a:cubicBezTo>
                    <a:pt x="610630" y="378932"/>
                    <a:pt x="601740" y="377662"/>
                    <a:pt x="581420" y="381472"/>
                  </a:cubicBezTo>
                  <a:cubicBezTo>
                    <a:pt x="535700" y="389092"/>
                    <a:pt x="430290" y="377662"/>
                    <a:pt x="349010" y="381472"/>
                  </a:cubicBezTo>
                  <a:cubicBezTo>
                    <a:pt x="258840" y="385282"/>
                    <a:pt x="105170" y="422112"/>
                    <a:pt x="65800" y="405602"/>
                  </a:cubicBezTo>
                  <a:cubicBezTo>
                    <a:pt x="51830" y="400522"/>
                    <a:pt x="42940" y="389092"/>
                    <a:pt x="42940" y="380202"/>
                  </a:cubicBezTo>
                  <a:cubicBezTo>
                    <a:pt x="42940" y="371312"/>
                    <a:pt x="65800" y="354802"/>
                    <a:pt x="65800" y="354802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797790" y="4598670"/>
            <a:ext cx="114300" cy="417195"/>
            <a:chOff x="0" y="0"/>
            <a:chExt cx="152400" cy="5562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34594" y="50800"/>
              <a:ext cx="67006" cy="454660"/>
            </a:xfrm>
            <a:custGeom>
              <a:avLst/>
              <a:gdLst/>
              <a:ahLst/>
              <a:cxnLst/>
              <a:rect r="r" b="b" t="t" l="l"/>
              <a:pathLst>
                <a:path h="454660" w="67006">
                  <a:moveTo>
                    <a:pt x="67006" y="25400"/>
                  </a:moveTo>
                  <a:cubicBezTo>
                    <a:pt x="59386" y="445770"/>
                    <a:pt x="47956" y="454660"/>
                    <a:pt x="40336" y="454660"/>
                  </a:cubicBezTo>
                  <a:cubicBezTo>
                    <a:pt x="31446" y="454660"/>
                    <a:pt x="16206" y="435610"/>
                    <a:pt x="16206" y="426720"/>
                  </a:cubicBezTo>
                  <a:cubicBezTo>
                    <a:pt x="16206" y="419100"/>
                    <a:pt x="22556" y="410210"/>
                    <a:pt x="28906" y="406400"/>
                  </a:cubicBezTo>
                  <a:cubicBezTo>
                    <a:pt x="36526" y="403860"/>
                    <a:pt x="53036" y="406400"/>
                    <a:pt x="59386" y="411480"/>
                  </a:cubicBezTo>
                  <a:cubicBezTo>
                    <a:pt x="64466" y="416560"/>
                    <a:pt x="68276" y="427990"/>
                    <a:pt x="65736" y="434340"/>
                  </a:cubicBezTo>
                  <a:cubicBezTo>
                    <a:pt x="63196" y="441960"/>
                    <a:pt x="50496" y="454660"/>
                    <a:pt x="42876" y="454660"/>
                  </a:cubicBezTo>
                  <a:cubicBezTo>
                    <a:pt x="33986" y="454660"/>
                    <a:pt x="22556" y="445770"/>
                    <a:pt x="16206" y="429260"/>
                  </a:cubicBezTo>
                  <a:cubicBezTo>
                    <a:pt x="-6654" y="377190"/>
                    <a:pt x="-4114" y="78740"/>
                    <a:pt x="16206" y="25400"/>
                  </a:cubicBezTo>
                  <a:cubicBezTo>
                    <a:pt x="21286" y="10160"/>
                    <a:pt x="30176" y="1270"/>
                    <a:pt x="37796" y="0"/>
                  </a:cubicBezTo>
                  <a:cubicBezTo>
                    <a:pt x="46686" y="0"/>
                    <a:pt x="67006" y="25400"/>
                    <a:pt x="67006" y="25400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1203305" y="2633662"/>
            <a:ext cx="955357" cy="151448"/>
            <a:chOff x="0" y="0"/>
            <a:chExt cx="1273810" cy="2019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0704" y="43169"/>
              <a:ext cx="1171036" cy="116010"/>
            </a:xfrm>
            <a:custGeom>
              <a:avLst/>
              <a:gdLst/>
              <a:ahLst/>
              <a:cxnLst/>
              <a:rect r="r" b="b" t="t" l="l"/>
              <a:pathLst>
                <a:path h="116010" w="1171036">
                  <a:moveTo>
                    <a:pt x="25496" y="57161"/>
                  </a:moveTo>
                  <a:cubicBezTo>
                    <a:pt x="335376" y="49541"/>
                    <a:pt x="448406" y="17791"/>
                    <a:pt x="562706" y="8901"/>
                  </a:cubicBezTo>
                  <a:cubicBezTo>
                    <a:pt x="685896" y="11"/>
                    <a:pt x="864966" y="-5069"/>
                    <a:pt x="953866" y="7631"/>
                  </a:cubicBezTo>
                  <a:cubicBezTo>
                    <a:pt x="1002126" y="13981"/>
                    <a:pt x="1026256" y="34301"/>
                    <a:pt x="1060546" y="39381"/>
                  </a:cubicBezTo>
                  <a:cubicBezTo>
                    <a:pt x="1092296" y="44461"/>
                    <a:pt x="1136746" y="30491"/>
                    <a:pt x="1154526" y="41921"/>
                  </a:cubicBezTo>
                  <a:cubicBezTo>
                    <a:pt x="1164686" y="48271"/>
                    <a:pt x="1172306" y="67321"/>
                    <a:pt x="1169766" y="74941"/>
                  </a:cubicBezTo>
                  <a:cubicBezTo>
                    <a:pt x="1167226" y="82561"/>
                    <a:pt x="1150716" y="91451"/>
                    <a:pt x="1143096" y="91451"/>
                  </a:cubicBezTo>
                  <a:cubicBezTo>
                    <a:pt x="1135476" y="91451"/>
                    <a:pt x="1126586" y="83831"/>
                    <a:pt x="1122776" y="77481"/>
                  </a:cubicBezTo>
                  <a:cubicBezTo>
                    <a:pt x="1120236" y="69861"/>
                    <a:pt x="1122776" y="53351"/>
                    <a:pt x="1127856" y="47001"/>
                  </a:cubicBezTo>
                  <a:cubicBezTo>
                    <a:pt x="1134206" y="41921"/>
                    <a:pt x="1151986" y="40651"/>
                    <a:pt x="1158336" y="44461"/>
                  </a:cubicBezTo>
                  <a:cubicBezTo>
                    <a:pt x="1164686" y="47001"/>
                    <a:pt x="1171036" y="57161"/>
                    <a:pt x="1171036" y="64781"/>
                  </a:cubicBezTo>
                  <a:cubicBezTo>
                    <a:pt x="1171036" y="72401"/>
                    <a:pt x="1163416" y="85101"/>
                    <a:pt x="1153256" y="90181"/>
                  </a:cubicBezTo>
                  <a:cubicBezTo>
                    <a:pt x="1141826" y="96531"/>
                    <a:pt x="1120236" y="92721"/>
                    <a:pt x="1097376" y="91451"/>
                  </a:cubicBezTo>
                  <a:cubicBezTo>
                    <a:pt x="1055466" y="87641"/>
                    <a:pt x="995776" y="64781"/>
                    <a:pt x="928466" y="58431"/>
                  </a:cubicBezTo>
                  <a:cubicBezTo>
                    <a:pt x="830676" y="49541"/>
                    <a:pt x="683356" y="50811"/>
                    <a:pt x="565246" y="59701"/>
                  </a:cubicBezTo>
                  <a:cubicBezTo>
                    <a:pt x="453486" y="68591"/>
                    <a:pt x="336646" y="100341"/>
                    <a:pt x="238856" y="107961"/>
                  </a:cubicBezTo>
                  <a:cubicBezTo>
                    <a:pt x="160116" y="113041"/>
                    <a:pt x="59786" y="123201"/>
                    <a:pt x="25496" y="107961"/>
                  </a:cubicBezTo>
                  <a:cubicBezTo>
                    <a:pt x="10256" y="101611"/>
                    <a:pt x="-1174" y="87641"/>
                    <a:pt x="96" y="78751"/>
                  </a:cubicBezTo>
                  <a:cubicBezTo>
                    <a:pt x="96" y="71131"/>
                    <a:pt x="25496" y="57161"/>
                    <a:pt x="25496" y="57161"/>
                  </a:cubicBezTo>
                </a:path>
              </a:pathLst>
            </a:custGeom>
            <a:solidFill>
              <a:srgbClr val="CA0F2D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4937342" y="114010"/>
            <a:ext cx="777650" cy="626361"/>
          </a:xfrm>
          <a:custGeom>
            <a:avLst/>
            <a:gdLst/>
            <a:ahLst/>
            <a:cxnLst/>
            <a:rect r="r" b="b" t="t" l="l"/>
            <a:pathLst>
              <a:path h="626361" w="777650">
                <a:moveTo>
                  <a:pt x="0" y="0"/>
                </a:moveTo>
                <a:lnTo>
                  <a:pt x="777649" y="0"/>
                </a:lnTo>
                <a:lnTo>
                  <a:pt x="777649" y="626362"/>
                </a:lnTo>
                <a:lnTo>
                  <a:pt x="0" y="62636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90113" y="246791"/>
            <a:ext cx="4606522" cy="49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sz="3275" b="true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Menu Analysis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407744" y="981075"/>
            <a:ext cx="3974639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01. Observations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504521" y="1504711"/>
            <a:ext cx="3719506" cy="351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1570" indent="-115785" lvl="1">
              <a:lnSpc>
                <a:spcPts val="1501"/>
              </a:lnSpc>
              <a:buFont typeface="Arial"/>
              <a:buChar char="•"/>
            </a:pPr>
            <a:r>
              <a:rPr lang="en-US" sz="107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Top performers are </a:t>
            </a: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Chicken Biryani [Regular] </a:t>
            </a: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and</a:t>
            </a: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Chicken Biryani [1 kg]</a:t>
            </a: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,</a:t>
            </a: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with starter Chicken 65.</a:t>
            </a:r>
          </a:p>
          <a:p>
            <a:pPr algn="l" marL="231570" indent="-115785" lvl="1">
              <a:lnSpc>
                <a:spcPts val="1501"/>
              </a:lnSpc>
              <a:buFont typeface="Arial"/>
              <a:buChar char="•"/>
            </a:pP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Chicken Biryani Pack (1 Piece), Double Egg Biryani, and Chicken Biryani (Half) s</a:t>
            </a: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how</a:t>
            </a: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ed negligible demand and limited positive sentiment</a:t>
            </a: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  <a:p>
            <a:pPr algn="l" marL="231570" indent="-115785" lvl="1">
              <a:lnSpc>
                <a:spcPts val="1501"/>
              </a:lnSpc>
              <a:buFont typeface="Arial"/>
              <a:buChar char="•"/>
            </a:pP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Closely priced variants appear to cannibalize each other without boosting overall sales, suggesting scope for rationalization.</a:t>
            </a:r>
          </a:p>
          <a:p>
            <a:pPr algn="l" marL="231570" indent="-115785" lvl="1">
              <a:lnSpc>
                <a:spcPts val="1501"/>
              </a:lnSpc>
              <a:buFont typeface="Arial"/>
              <a:buChar char="•"/>
            </a:pP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Customers ordering Chicken 65 Biryani often added an extra serving of Chicken 65, showing strong loyalty to that flavor profile.</a:t>
            </a:r>
          </a:p>
          <a:p>
            <a:pPr algn="l" marL="231570" indent="-115785" lvl="1">
              <a:lnSpc>
                <a:spcPts val="1501"/>
              </a:lnSpc>
              <a:buFont typeface="Arial"/>
              <a:buChar char="•"/>
            </a:pP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Lollipop have better rating than Chicken 65</a:t>
            </a:r>
          </a:p>
          <a:p>
            <a:pPr algn="l" marL="231570" indent="-115785" lvl="1">
              <a:lnSpc>
                <a:spcPts val="1501"/>
              </a:lnSpc>
              <a:buFont typeface="Arial"/>
              <a:buChar char="•"/>
            </a:pP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When Chicken 65 was ordered, demand for soft drinks dropped considerably.</a:t>
            </a:r>
          </a:p>
          <a:p>
            <a:pPr algn="l" marL="231570" indent="-115785" lvl="1">
              <a:lnSpc>
                <a:spcPts val="1501"/>
              </a:lnSpc>
              <a:buFont typeface="Arial"/>
              <a:buChar char="•"/>
            </a:pPr>
            <a:r>
              <a:rPr lang="en-US" sz="1072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Paneer Goli Soda, though lower in sales, consistently maintained ratings above 4, while Blueberry Goli Soda had lower average ratings, often below 3.</a:t>
            </a:r>
          </a:p>
          <a:p>
            <a:pPr algn="l">
              <a:lnSpc>
                <a:spcPts val="1501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6386028" y="5164009"/>
            <a:ext cx="3915468" cy="445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6"/>
              </a:lnSpc>
              <a:spcBef>
                <a:spcPct val="0"/>
              </a:spcBef>
            </a:pPr>
          </a:p>
          <a:p>
            <a:pPr algn="l">
              <a:lnSpc>
                <a:spcPts val="1376"/>
              </a:lnSpc>
              <a:spcBef>
                <a:spcPct val="0"/>
              </a:spcBef>
            </a:pPr>
          </a:p>
          <a:p>
            <a:pPr algn="l" marL="212332" indent="-106166" lvl="1">
              <a:lnSpc>
                <a:spcPts val="1376"/>
              </a:lnSpc>
              <a:spcBef>
                <a:spcPct val="0"/>
              </a:spcBef>
              <a:buAutoNum type="arabicPeriod" startAt="1"/>
            </a:pP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Price sensitivity: 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Customers prefer familiar, value-driven variants, highlighting the need to keep pricing sharp.</a:t>
            </a:r>
          </a:p>
          <a:p>
            <a:pPr algn="l" marL="212332" indent="-106166" lvl="1">
              <a:lnSpc>
                <a:spcPts val="1376"/>
              </a:lnSpc>
              <a:spcBef>
                <a:spcPct val="0"/>
              </a:spcBef>
              <a:buAutoNum type="arabicPeriod" startAt="1"/>
            </a:pP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SKU rationalization: 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Streamlining low-performing 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item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 can simplify kitchen workflow and focus on high performers.</a:t>
            </a:r>
          </a:p>
          <a:p>
            <a:pPr algn="l" marL="212332" indent="-106166" lvl="1">
              <a:lnSpc>
                <a:spcPts val="1376"/>
              </a:lnSpc>
              <a:spcBef>
                <a:spcPct val="0"/>
              </a:spcBef>
              <a:buAutoNum type="arabicPeriod" startAt="1"/>
            </a:pP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Portion perception: 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Same photos and vague descriptions across portions create mismatches, driving inconsistent ratings.</a:t>
            </a:r>
          </a:p>
          <a:p>
            <a:pPr algn="l" marL="212332" indent="-106166" lvl="1">
              <a:lnSpc>
                <a:spcPts val="1376"/>
              </a:lnSpc>
              <a:spcBef>
                <a:spcPct val="0"/>
              </a:spcBef>
              <a:buAutoNum type="arabicPeriod" startAt="1"/>
            </a:pP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Menu c</a:t>
            </a: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orrelation: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Weak relationship between Regular Chicken Biryani and Chicken 65 sho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ws one does not predict the other.</a:t>
            </a:r>
          </a:p>
          <a:p>
            <a:pPr algn="l" marL="212332" indent="-106166" lvl="1">
              <a:lnSpc>
                <a:spcPts val="1376"/>
              </a:lnSpc>
              <a:spcBef>
                <a:spcPct val="0"/>
              </a:spcBef>
              <a:buAutoNum type="arabicPeriod" startAt="1"/>
            </a:pP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Innovation opportunity: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Strong preference for Chicken 65 signals scope for data-informed menu innovation around this flavor.</a:t>
            </a:r>
          </a:p>
          <a:p>
            <a:pPr algn="l" marL="212332" indent="-106166" lvl="1">
              <a:lnSpc>
                <a:spcPts val="1376"/>
              </a:lnSpc>
              <a:spcBef>
                <a:spcPct val="0"/>
              </a:spcBef>
              <a:buAutoNum type="arabicPeriod" startAt="1"/>
            </a:pP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Brand monitoring: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Paneer &amp; Blueberry Goli Soda belong to different brands, requiring periodic checks for quality consistency.</a:t>
            </a:r>
          </a:p>
          <a:p>
            <a:pPr algn="l" marL="212332" indent="-106166" lvl="1">
              <a:lnSpc>
                <a:spcPts val="1376"/>
              </a:lnSpc>
              <a:spcBef>
                <a:spcPct val="0"/>
              </a:spcBef>
              <a:buAutoNum type="arabicPeriod" startAt="1"/>
            </a:pP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Seasonal beverages: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Warm alternatives like soups in colder months can sustain add-on sales volume.</a:t>
            </a:r>
          </a:p>
          <a:p>
            <a:pPr algn="l" marL="212332" indent="-106166" lvl="1">
              <a:lnSpc>
                <a:spcPts val="1376"/>
              </a:lnSpc>
              <a:spcBef>
                <a:spcPct val="0"/>
              </a:spcBef>
              <a:buAutoNum type="arabicPeriod" startAt="1"/>
            </a:pP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Recipe refinement: 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None of the top 6 items have achieved 4+ ratings, indicating room for improvement in taste or presentation.</a:t>
            </a:r>
          </a:p>
          <a:p>
            <a:pPr algn="l" marL="212332" indent="-106166" lvl="1">
              <a:lnSpc>
                <a:spcPts val="1376"/>
              </a:lnSpc>
              <a:spcBef>
                <a:spcPct val="0"/>
              </a:spcBef>
              <a:buAutoNum type="arabicPeriod" startAt="1"/>
            </a:pPr>
            <a:r>
              <a:rPr lang="en-US" b="true" sz="983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Add-on potential:</a:t>
            </a:r>
            <a:r>
              <a:rPr lang="en-US" sz="983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Lollipop shows strong promise when paired with biryani orders.</a:t>
            </a:r>
          </a:p>
          <a:p>
            <a:pPr algn="l">
              <a:lnSpc>
                <a:spcPts val="1376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7234120" y="4928552"/>
            <a:ext cx="221928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02. Insights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191702" y="3637956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038350" y="6620482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964055" y="10083771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794884" y="5938666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Fig:4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115209" y="9434303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Fig:5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714991" y="136554"/>
            <a:ext cx="2509160" cy="963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2212" indent="-116106" lvl="1">
              <a:lnSpc>
                <a:spcPts val="1505"/>
              </a:lnSpc>
              <a:buFont typeface="Arial"/>
              <a:buChar char="•"/>
            </a:pPr>
            <a:r>
              <a:rPr lang="en-US" sz="1075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Biryani Category - Regular chicken Biryani</a:t>
            </a:r>
          </a:p>
          <a:p>
            <a:pPr algn="l" marL="232212" indent="-116106" lvl="1">
              <a:lnSpc>
                <a:spcPts val="1505"/>
              </a:lnSpc>
              <a:buFont typeface="Arial"/>
              <a:buChar char="•"/>
            </a:pPr>
            <a:r>
              <a:rPr lang="en-US" sz="1075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Starters - Chicken 65</a:t>
            </a:r>
          </a:p>
          <a:p>
            <a:pPr algn="l" marL="232212" indent="-116106" lvl="1">
              <a:lnSpc>
                <a:spcPts val="1505"/>
              </a:lnSpc>
              <a:buFont typeface="Arial"/>
              <a:buChar char="•"/>
            </a:pPr>
            <a:r>
              <a:rPr lang="en-US" sz="1075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Combo - Combo 1</a:t>
            </a:r>
          </a:p>
          <a:p>
            <a:pPr algn="l" marL="232212" indent="-116106" lvl="1">
              <a:lnSpc>
                <a:spcPts val="1505"/>
              </a:lnSpc>
              <a:buFont typeface="Arial"/>
              <a:buChar char="•"/>
            </a:pPr>
            <a:r>
              <a:rPr lang="en-US" sz="1075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Drinks - Blueberry Goli Soda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6161" y="68227"/>
            <a:ext cx="131392" cy="3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78213" y="422457"/>
            <a:ext cx="2833844" cy="4035191"/>
          </a:xfrm>
          <a:custGeom>
            <a:avLst/>
            <a:gdLst/>
            <a:ahLst/>
            <a:cxnLst/>
            <a:rect r="r" b="b" t="t" l="l"/>
            <a:pathLst>
              <a:path h="4035191" w="2833844">
                <a:moveTo>
                  <a:pt x="0" y="0"/>
                </a:moveTo>
                <a:lnTo>
                  <a:pt x="2833844" y="0"/>
                </a:lnTo>
                <a:lnTo>
                  <a:pt x="2833844" y="4035191"/>
                </a:lnTo>
                <a:lnTo>
                  <a:pt x="0" y="4035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97" r="0" b="-1397"/>
            </a:stretch>
          </a:blipFill>
          <a:ln w="9525" cap="sq">
            <a:solidFill>
              <a:srgbClr val="D5544E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7989050" y="4768059"/>
            <a:ext cx="4325033" cy="2324867"/>
          </a:xfrm>
          <a:custGeom>
            <a:avLst/>
            <a:gdLst/>
            <a:ahLst/>
            <a:cxnLst/>
            <a:rect r="r" b="b" t="t" l="l"/>
            <a:pathLst>
              <a:path h="2324867" w="4325033">
                <a:moveTo>
                  <a:pt x="0" y="0"/>
                </a:moveTo>
                <a:lnTo>
                  <a:pt x="4325033" y="0"/>
                </a:lnTo>
                <a:lnTo>
                  <a:pt x="4325033" y="2324867"/>
                </a:lnTo>
                <a:lnTo>
                  <a:pt x="0" y="2324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52" r="-29225" b="-125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44582" y="1358730"/>
            <a:ext cx="7715892" cy="8986638"/>
            <a:chOff x="0" y="0"/>
            <a:chExt cx="2032169" cy="23668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2169" cy="2366851"/>
            </a:xfrm>
            <a:custGeom>
              <a:avLst/>
              <a:gdLst/>
              <a:ahLst/>
              <a:cxnLst/>
              <a:rect r="r" b="b" t="t" l="l"/>
              <a:pathLst>
                <a:path h="2366851" w="2032169">
                  <a:moveTo>
                    <a:pt x="96324" y="0"/>
                  </a:moveTo>
                  <a:lnTo>
                    <a:pt x="1935845" y="0"/>
                  </a:lnTo>
                  <a:cubicBezTo>
                    <a:pt x="1989044" y="0"/>
                    <a:pt x="2032169" y="43126"/>
                    <a:pt x="2032169" y="96324"/>
                  </a:cubicBezTo>
                  <a:lnTo>
                    <a:pt x="2032169" y="2270527"/>
                  </a:lnTo>
                  <a:cubicBezTo>
                    <a:pt x="2032169" y="2296074"/>
                    <a:pt x="2022021" y="2320574"/>
                    <a:pt x="2003957" y="2338638"/>
                  </a:cubicBezTo>
                  <a:cubicBezTo>
                    <a:pt x="1985892" y="2356703"/>
                    <a:pt x="1961392" y="2366851"/>
                    <a:pt x="1935845" y="2366851"/>
                  </a:cubicBezTo>
                  <a:lnTo>
                    <a:pt x="96324" y="2366851"/>
                  </a:lnTo>
                  <a:cubicBezTo>
                    <a:pt x="70777" y="2366851"/>
                    <a:pt x="46277" y="2356703"/>
                    <a:pt x="28213" y="2338638"/>
                  </a:cubicBezTo>
                  <a:cubicBezTo>
                    <a:pt x="10148" y="2320574"/>
                    <a:pt x="0" y="2296074"/>
                    <a:pt x="0" y="2270527"/>
                  </a:cubicBezTo>
                  <a:lnTo>
                    <a:pt x="0" y="96324"/>
                  </a:lnTo>
                  <a:cubicBezTo>
                    <a:pt x="0" y="70777"/>
                    <a:pt x="10148" y="46277"/>
                    <a:pt x="28213" y="28213"/>
                  </a:cubicBezTo>
                  <a:cubicBezTo>
                    <a:pt x="46277" y="10148"/>
                    <a:pt x="70777" y="0"/>
                    <a:pt x="96324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032169" cy="2414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14083" y="401658"/>
            <a:ext cx="4945217" cy="4145496"/>
            <a:chOff x="0" y="0"/>
            <a:chExt cx="6593623" cy="5527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593623" cy="5527328"/>
            </a:xfrm>
            <a:custGeom>
              <a:avLst/>
              <a:gdLst/>
              <a:ahLst/>
              <a:cxnLst/>
              <a:rect r="r" b="b" t="t" l="l"/>
              <a:pathLst>
                <a:path h="5527328" w="6593623">
                  <a:moveTo>
                    <a:pt x="0" y="0"/>
                  </a:moveTo>
                  <a:lnTo>
                    <a:pt x="6593623" y="0"/>
                  </a:lnTo>
                  <a:lnTo>
                    <a:pt x="6593623" y="5527328"/>
                  </a:lnTo>
                  <a:lnTo>
                    <a:pt x="0" y="55273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99226" y="3667038"/>
              <a:ext cx="2885110" cy="1632602"/>
            </a:xfrm>
            <a:custGeom>
              <a:avLst/>
              <a:gdLst/>
              <a:ahLst/>
              <a:cxnLst/>
              <a:rect r="r" b="b" t="t" l="l"/>
              <a:pathLst>
                <a:path h="1632602" w="2885110">
                  <a:moveTo>
                    <a:pt x="0" y="0"/>
                  </a:moveTo>
                  <a:lnTo>
                    <a:pt x="2885110" y="0"/>
                  </a:lnTo>
                  <a:lnTo>
                    <a:pt x="2885110" y="1632603"/>
                  </a:lnTo>
                  <a:lnTo>
                    <a:pt x="0" y="1632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3029" t="-24405" r="-2656" b="-246381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858235" y="5039163"/>
            <a:ext cx="1268030" cy="1837398"/>
          </a:xfrm>
          <a:custGeom>
            <a:avLst/>
            <a:gdLst/>
            <a:ahLst/>
            <a:cxnLst/>
            <a:rect r="r" b="b" t="t" l="l"/>
            <a:pathLst>
              <a:path h="1837398" w="1268030">
                <a:moveTo>
                  <a:pt x="0" y="0"/>
                </a:moveTo>
                <a:lnTo>
                  <a:pt x="1268031" y="0"/>
                </a:lnTo>
                <a:lnTo>
                  <a:pt x="1268031" y="1837399"/>
                </a:lnTo>
                <a:lnTo>
                  <a:pt x="0" y="18373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4670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474168" y="4709909"/>
            <a:ext cx="4493969" cy="2441168"/>
            <a:chOff x="0" y="0"/>
            <a:chExt cx="5991959" cy="32548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91959" cy="3254891"/>
            </a:xfrm>
            <a:custGeom>
              <a:avLst/>
              <a:gdLst/>
              <a:ahLst/>
              <a:cxnLst/>
              <a:rect r="r" b="b" t="t" l="l"/>
              <a:pathLst>
                <a:path h="3254891" w="5991959">
                  <a:moveTo>
                    <a:pt x="0" y="0"/>
                  </a:moveTo>
                  <a:lnTo>
                    <a:pt x="5991959" y="0"/>
                  </a:lnTo>
                  <a:lnTo>
                    <a:pt x="5991959" y="3254891"/>
                  </a:lnTo>
                  <a:lnTo>
                    <a:pt x="0" y="3254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-3165678">
              <a:off x="992364" y="1533876"/>
              <a:ext cx="568653" cy="187138"/>
            </a:xfrm>
            <a:custGeom>
              <a:avLst/>
              <a:gdLst/>
              <a:ahLst/>
              <a:cxnLst/>
              <a:rect r="r" b="b" t="t" l="l"/>
              <a:pathLst>
                <a:path h="187138" w="568653">
                  <a:moveTo>
                    <a:pt x="0" y="0"/>
                  </a:moveTo>
                  <a:lnTo>
                    <a:pt x="568653" y="0"/>
                  </a:lnTo>
                  <a:lnTo>
                    <a:pt x="568653" y="187139"/>
                  </a:lnTo>
                  <a:lnTo>
                    <a:pt x="0" y="187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555182" y="1862801"/>
              <a:ext cx="968057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Al-Wafa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61110" y="2289187"/>
            <a:ext cx="726043" cy="653071"/>
            <a:chOff x="0" y="0"/>
            <a:chExt cx="968057" cy="870761"/>
          </a:xfrm>
        </p:grpSpPr>
        <p:sp>
          <p:nvSpPr>
            <p:cNvPr name="Freeform 16" id="16"/>
            <p:cNvSpPr/>
            <p:nvPr/>
          </p:nvSpPr>
          <p:spPr>
            <a:xfrm flipH="false" flipV="false" rot="-3165678">
              <a:off x="437182" y="189411"/>
              <a:ext cx="568653" cy="187138"/>
            </a:xfrm>
            <a:custGeom>
              <a:avLst/>
              <a:gdLst/>
              <a:ahLst/>
              <a:cxnLst/>
              <a:rect r="r" b="b" t="t" l="l"/>
              <a:pathLst>
                <a:path h="187138" w="568653">
                  <a:moveTo>
                    <a:pt x="0" y="0"/>
                  </a:moveTo>
                  <a:lnTo>
                    <a:pt x="568653" y="0"/>
                  </a:lnTo>
                  <a:lnTo>
                    <a:pt x="568653" y="187139"/>
                  </a:lnTo>
                  <a:lnTo>
                    <a:pt x="0" y="187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518336"/>
              <a:ext cx="968057" cy="35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r>
                <a:rPr lang="en-US" sz="1500">
                  <a:solidFill>
                    <a:srgbClr val="000000"/>
                  </a:solidFill>
                  <a:latin typeface="Work Sans"/>
                  <a:ea typeface="Work Sans"/>
                  <a:cs typeface="Work Sans"/>
                  <a:sym typeface="Work Sans"/>
                </a:rPr>
                <a:t>Al-Wafa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561110" y="7417777"/>
            <a:ext cx="6160042" cy="2754802"/>
          </a:xfrm>
          <a:custGeom>
            <a:avLst/>
            <a:gdLst/>
            <a:ahLst/>
            <a:cxnLst/>
            <a:rect r="r" b="b" t="t" l="l"/>
            <a:pathLst>
              <a:path h="2754802" w="6160042">
                <a:moveTo>
                  <a:pt x="0" y="0"/>
                </a:moveTo>
                <a:lnTo>
                  <a:pt x="6160042" y="0"/>
                </a:lnTo>
                <a:lnTo>
                  <a:pt x="6160042" y="2754802"/>
                </a:lnTo>
                <a:lnTo>
                  <a:pt x="0" y="2754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96568" y="1692705"/>
            <a:ext cx="3545681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Assumptions/Beleifs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75046" y="1566565"/>
            <a:ext cx="766294" cy="722622"/>
            <a:chOff x="0" y="0"/>
            <a:chExt cx="1021725" cy="96349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21725" cy="963496"/>
              <a:chOff x="0" y="0"/>
              <a:chExt cx="201822" cy="19032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01822" cy="190320"/>
              </a:xfrm>
              <a:custGeom>
                <a:avLst/>
                <a:gdLst/>
                <a:ahLst/>
                <a:cxnLst/>
                <a:rect r="r" b="b" t="t" l="l"/>
                <a:pathLst>
                  <a:path h="190320" w="201822">
                    <a:moveTo>
                      <a:pt x="95160" y="0"/>
                    </a:moveTo>
                    <a:lnTo>
                      <a:pt x="106662" y="0"/>
                    </a:lnTo>
                    <a:cubicBezTo>
                      <a:pt x="159218" y="0"/>
                      <a:pt x="201822" y="42605"/>
                      <a:pt x="201822" y="95160"/>
                    </a:cubicBezTo>
                    <a:lnTo>
                      <a:pt x="201822" y="95160"/>
                    </a:lnTo>
                    <a:cubicBezTo>
                      <a:pt x="201822" y="120398"/>
                      <a:pt x="191796" y="144602"/>
                      <a:pt x="173950" y="162448"/>
                    </a:cubicBezTo>
                    <a:cubicBezTo>
                      <a:pt x="156104" y="180294"/>
                      <a:pt x="131900" y="190320"/>
                      <a:pt x="106662" y="190320"/>
                    </a:cubicBezTo>
                    <a:lnTo>
                      <a:pt x="95160" y="190320"/>
                    </a:lnTo>
                    <a:cubicBezTo>
                      <a:pt x="69922" y="190320"/>
                      <a:pt x="45718" y="180294"/>
                      <a:pt x="27872" y="162448"/>
                    </a:cubicBezTo>
                    <a:cubicBezTo>
                      <a:pt x="10026" y="144602"/>
                      <a:pt x="0" y="120398"/>
                      <a:pt x="0" y="95160"/>
                    </a:cubicBezTo>
                    <a:lnTo>
                      <a:pt x="0" y="95160"/>
                    </a:lnTo>
                    <a:cubicBezTo>
                      <a:pt x="0" y="69922"/>
                      <a:pt x="10026" y="45718"/>
                      <a:pt x="27872" y="27872"/>
                    </a:cubicBezTo>
                    <a:cubicBezTo>
                      <a:pt x="45718" y="10026"/>
                      <a:pt x="69922" y="0"/>
                      <a:pt x="95160" y="0"/>
                    </a:cubicBezTo>
                    <a:close/>
                  </a:path>
                </a:pathLst>
              </a:custGeom>
              <a:solidFill>
                <a:srgbClr val="D5544E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201822" cy="2379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6620" y="196845"/>
              <a:ext cx="688484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b="true" sz="23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01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875511" y="2216220"/>
            <a:ext cx="6326238" cy="130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3630" indent="-131815" lvl="1">
              <a:lnSpc>
                <a:spcPts val="1709"/>
              </a:lnSpc>
              <a:buFont typeface="Arial"/>
              <a:buChar char="•"/>
            </a:pPr>
            <a:r>
              <a:rPr lang="en-US" sz="122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Market dominance: Seerga Samba and Dindigul Style Biryani are the leading categories, with little presence of Basmati Biryani.</a:t>
            </a:r>
          </a:p>
          <a:p>
            <a:pPr algn="l" marL="263630" indent="-131815" lvl="1">
              <a:lnSpc>
                <a:spcPts val="1709"/>
              </a:lnSpc>
              <a:buFont typeface="Arial"/>
              <a:buChar char="•"/>
            </a:pPr>
            <a:r>
              <a:rPr lang="en-US" sz="122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Unique price positioning: No competitors currently match their price offerings, with the hero item selling at Rs.80.</a:t>
            </a:r>
          </a:p>
          <a:p>
            <a:pPr algn="l" marL="263630" indent="-131815" lvl="1">
              <a:lnSpc>
                <a:spcPts val="1709"/>
              </a:lnSpc>
              <a:buFont typeface="Arial"/>
              <a:buChar char="•"/>
            </a:pPr>
            <a:r>
              <a:rPr lang="en-US" sz="122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Fragmented market</a:t>
            </a:r>
          </a:p>
          <a:p>
            <a:pPr algn="l">
              <a:lnSpc>
                <a:spcPts val="170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751633" y="3797909"/>
            <a:ext cx="6701791" cy="2964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6194" indent="-153097" lvl="1">
              <a:lnSpc>
                <a:spcPts val="1985"/>
              </a:lnSpc>
              <a:buFont typeface="Arial"/>
              <a:buChar char="•"/>
            </a:pPr>
            <a:r>
              <a:rPr lang="en-US" sz="141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46% of restaurants on Zomato in Othakadai, Madurai also serve Basmati Biryani.</a:t>
            </a:r>
          </a:p>
          <a:p>
            <a:pPr algn="l" marL="306194" indent="-153097" lvl="1">
              <a:lnSpc>
                <a:spcPts val="1985"/>
              </a:lnSpc>
              <a:buFont typeface="Arial"/>
              <a:buChar char="•"/>
            </a:pPr>
            <a:r>
              <a:rPr lang="en-US" sz="141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41 direct competitors identified with traits: s</a:t>
            </a:r>
            <a:r>
              <a:rPr lang="en-US" sz="141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elling Basmati Biryani, budget best sellers (&lt; ₹400), delivery times under 40 minutes, and app search ranks within the top 150.</a:t>
            </a:r>
          </a:p>
          <a:p>
            <a:pPr algn="l" marL="306194" indent="-153097" lvl="1">
              <a:lnSpc>
                <a:spcPts val="1985"/>
              </a:lnSpc>
              <a:buFont typeface="Arial"/>
              <a:buChar char="•"/>
            </a:pPr>
            <a:r>
              <a:rPr lang="en-US" sz="141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No restaurant found with a rating below 3, showing stable satisfaction levels.</a:t>
            </a:r>
          </a:p>
          <a:p>
            <a:pPr algn="l" marL="306194" indent="-153097" lvl="1">
              <a:lnSpc>
                <a:spcPts val="1985"/>
              </a:lnSpc>
              <a:buFont typeface="Arial"/>
              <a:buChar char="•"/>
            </a:pPr>
            <a:r>
              <a:rPr lang="en-US" sz="141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Al-Wafa is the only restaurant priced below ₹200, while most competitors price above ₹200.</a:t>
            </a:r>
          </a:p>
          <a:p>
            <a:pPr algn="l" marL="306194" indent="-153097" lvl="1">
              <a:lnSpc>
                <a:spcPts val="1985"/>
              </a:lnSpc>
              <a:buFont typeface="Arial"/>
              <a:buChar char="•"/>
            </a:pPr>
            <a:r>
              <a:rPr lang="en-US" sz="141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</a:t>
            </a:r>
            <a:r>
              <a:rPr lang="en-US" sz="1418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oncentrated competitor clusters are located ~5 km away from Al-Wafa.</a:t>
            </a:r>
          </a:p>
          <a:p>
            <a:pPr algn="l">
              <a:lnSpc>
                <a:spcPts val="1985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2015591" y="8575351"/>
            <a:ext cx="869629" cy="869629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51633" y="6857512"/>
            <a:ext cx="6925723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7"/>
              </a:lnSpc>
            </a:pPr>
          </a:p>
          <a:p>
            <a:pPr algn="l">
              <a:lnSpc>
                <a:spcPts val="1807"/>
              </a:lnSpc>
            </a:pPr>
          </a:p>
          <a:p>
            <a:pPr algn="l" marL="325163" indent="-162582" lvl="1">
              <a:lnSpc>
                <a:spcPts val="1807"/>
              </a:lnSpc>
              <a:buAutoNum type="arabicPeriod" startAt="1"/>
            </a:pPr>
            <a:r>
              <a:rPr lang="en-US" b="true" sz="1506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Competitive intensity:</a:t>
            </a:r>
            <a:r>
              <a:rPr lang="en-US" sz="150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The segment is more competitive than initially assumed, highlighting the need for differentiation.</a:t>
            </a:r>
          </a:p>
          <a:p>
            <a:pPr algn="l" marL="325163" indent="-162582" lvl="1">
              <a:lnSpc>
                <a:spcPts val="1807"/>
              </a:lnSpc>
              <a:buAutoNum type="arabicPeriod" startAt="1"/>
            </a:pPr>
            <a:r>
              <a:rPr lang="en-US" b="true" sz="1506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Positioning balance: </a:t>
            </a:r>
            <a:r>
              <a:rPr lang="en-US" sz="150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Affordability offers a competitive edge for value-driven customers, but satisfaction must align with price perception to avoid being seen as merely “budget.”</a:t>
            </a:r>
          </a:p>
          <a:p>
            <a:pPr algn="l" marL="325163" indent="-162582" lvl="1">
              <a:lnSpc>
                <a:spcPts val="1807"/>
              </a:lnSpc>
              <a:buAutoNum type="arabicPeriod" startAt="1"/>
            </a:pPr>
            <a:r>
              <a:rPr lang="en-US" b="true" sz="1506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</a:t>
            </a:r>
            <a:r>
              <a:rPr lang="en-US" b="true" sz="1506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ompetitor ratings: </a:t>
            </a:r>
            <a:r>
              <a:rPr lang="en-US" sz="150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Rivals maintain more stable average ratings due to higher review </a:t>
            </a:r>
            <a:r>
              <a:rPr lang="en-US" sz="150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volumes, signaling stronger consistency.</a:t>
            </a:r>
          </a:p>
          <a:p>
            <a:pPr algn="l" marL="325163" indent="-162582" lvl="1">
              <a:lnSpc>
                <a:spcPts val="1807"/>
              </a:lnSpc>
              <a:spcBef>
                <a:spcPct val="0"/>
              </a:spcBef>
              <a:buAutoNum type="arabicPeriod" startAt="1"/>
            </a:pPr>
            <a:r>
              <a:rPr lang="en-US" b="true" sz="1506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Local operations: </a:t>
            </a:r>
            <a:r>
              <a:rPr lang="en-US" sz="1506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Since most customers are within 2–5 km, ensuring sufficient driver presence in this zone is crucial to reduce delays and maintain reliability.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75046" y="3164635"/>
            <a:ext cx="766294" cy="722622"/>
            <a:chOff x="0" y="0"/>
            <a:chExt cx="1021725" cy="963496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021725" cy="963496"/>
              <a:chOff x="0" y="0"/>
              <a:chExt cx="201822" cy="19032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01822" cy="190320"/>
              </a:xfrm>
              <a:custGeom>
                <a:avLst/>
                <a:gdLst/>
                <a:ahLst/>
                <a:cxnLst/>
                <a:rect r="r" b="b" t="t" l="l"/>
                <a:pathLst>
                  <a:path h="190320" w="201822">
                    <a:moveTo>
                      <a:pt x="95160" y="0"/>
                    </a:moveTo>
                    <a:lnTo>
                      <a:pt x="106662" y="0"/>
                    </a:lnTo>
                    <a:cubicBezTo>
                      <a:pt x="159218" y="0"/>
                      <a:pt x="201822" y="42605"/>
                      <a:pt x="201822" y="95160"/>
                    </a:cubicBezTo>
                    <a:lnTo>
                      <a:pt x="201822" y="95160"/>
                    </a:lnTo>
                    <a:cubicBezTo>
                      <a:pt x="201822" y="120398"/>
                      <a:pt x="191796" y="144602"/>
                      <a:pt x="173950" y="162448"/>
                    </a:cubicBezTo>
                    <a:cubicBezTo>
                      <a:pt x="156104" y="180294"/>
                      <a:pt x="131900" y="190320"/>
                      <a:pt x="106662" y="190320"/>
                    </a:cubicBezTo>
                    <a:lnTo>
                      <a:pt x="95160" y="190320"/>
                    </a:lnTo>
                    <a:cubicBezTo>
                      <a:pt x="69922" y="190320"/>
                      <a:pt x="45718" y="180294"/>
                      <a:pt x="27872" y="162448"/>
                    </a:cubicBezTo>
                    <a:cubicBezTo>
                      <a:pt x="10026" y="144602"/>
                      <a:pt x="0" y="120398"/>
                      <a:pt x="0" y="95160"/>
                    </a:cubicBezTo>
                    <a:lnTo>
                      <a:pt x="0" y="95160"/>
                    </a:lnTo>
                    <a:cubicBezTo>
                      <a:pt x="0" y="69922"/>
                      <a:pt x="10026" y="45718"/>
                      <a:pt x="27872" y="27872"/>
                    </a:cubicBezTo>
                    <a:cubicBezTo>
                      <a:pt x="45718" y="10026"/>
                      <a:pt x="69922" y="0"/>
                      <a:pt x="95160" y="0"/>
                    </a:cubicBezTo>
                    <a:close/>
                  </a:path>
                </a:pathLst>
              </a:custGeom>
              <a:solidFill>
                <a:srgbClr val="D5544E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201822" cy="2379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166620" y="196845"/>
              <a:ext cx="688484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b="true" sz="23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02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896568" y="6843988"/>
            <a:ext cx="174586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Insights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244582" y="6731615"/>
            <a:ext cx="766294" cy="722622"/>
            <a:chOff x="0" y="0"/>
            <a:chExt cx="1021725" cy="96349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021725" cy="963496"/>
              <a:chOff x="0" y="0"/>
              <a:chExt cx="201822" cy="19032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01822" cy="190320"/>
              </a:xfrm>
              <a:custGeom>
                <a:avLst/>
                <a:gdLst/>
                <a:ahLst/>
                <a:cxnLst/>
                <a:rect r="r" b="b" t="t" l="l"/>
                <a:pathLst>
                  <a:path h="190320" w="201822">
                    <a:moveTo>
                      <a:pt x="95160" y="0"/>
                    </a:moveTo>
                    <a:lnTo>
                      <a:pt x="106662" y="0"/>
                    </a:lnTo>
                    <a:cubicBezTo>
                      <a:pt x="159218" y="0"/>
                      <a:pt x="201822" y="42605"/>
                      <a:pt x="201822" y="95160"/>
                    </a:cubicBezTo>
                    <a:lnTo>
                      <a:pt x="201822" y="95160"/>
                    </a:lnTo>
                    <a:cubicBezTo>
                      <a:pt x="201822" y="120398"/>
                      <a:pt x="191796" y="144602"/>
                      <a:pt x="173950" y="162448"/>
                    </a:cubicBezTo>
                    <a:cubicBezTo>
                      <a:pt x="156104" y="180294"/>
                      <a:pt x="131900" y="190320"/>
                      <a:pt x="106662" y="190320"/>
                    </a:cubicBezTo>
                    <a:lnTo>
                      <a:pt x="95160" y="190320"/>
                    </a:lnTo>
                    <a:cubicBezTo>
                      <a:pt x="69922" y="190320"/>
                      <a:pt x="45718" y="180294"/>
                      <a:pt x="27872" y="162448"/>
                    </a:cubicBezTo>
                    <a:cubicBezTo>
                      <a:pt x="10026" y="144602"/>
                      <a:pt x="0" y="120398"/>
                      <a:pt x="0" y="95160"/>
                    </a:cubicBezTo>
                    <a:lnTo>
                      <a:pt x="0" y="95160"/>
                    </a:lnTo>
                    <a:cubicBezTo>
                      <a:pt x="0" y="69922"/>
                      <a:pt x="10026" y="45718"/>
                      <a:pt x="27872" y="27872"/>
                    </a:cubicBezTo>
                    <a:cubicBezTo>
                      <a:pt x="45718" y="10026"/>
                      <a:pt x="69922" y="0"/>
                      <a:pt x="95160" y="0"/>
                    </a:cubicBezTo>
                    <a:close/>
                  </a:path>
                </a:pathLst>
              </a:custGeom>
              <a:solidFill>
                <a:srgbClr val="D5544E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47625"/>
                <a:ext cx="201822" cy="23794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66620" y="196845"/>
              <a:ext cx="688484" cy="5126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0"/>
                </a:lnSpc>
                <a:spcBef>
                  <a:spcPct val="0"/>
                </a:spcBef>
              </a:pPr>
              <a:r>
                <a:rPr lang="en-US" b="true" sz="23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03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99097" y="401658"/>
            <a:ext cx="7679066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Competitor Analysis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019493" y="5060444"/>
            <a:ext cx="764497" cy="14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156" indent="-48078" lvl="1">
              <a:lnSpc>
                <a:spcPts val="623"/>
              </a:lnSpc>
              <a:buFont typeface="Arial"/>
              <a:buChar char="•"/>
            </a:pPr>
            <a:r>
              <a:rPr lang="en-US" b="true" sz="445">
                <a:solidFill>
                  <a:srgbClr val="FB9B3B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Average: &gt;=3 and &lt;4</a:t>
            </a:r>
          </a:p>
          <a:p>
            <a:pPr algn="l" marL="96156" indent="-48078" lvl="1">
              <a:lnSpc>
                <a:spcPts val="623"/>
              </a:lnSpc>
              <a:buFont typeface="Arial"/>
              <a:buChar char="•"/>
            </a:pPr>
            <a:r>
              <a:rPr lang="en-US" b="true" sz="445">
                <a:solidFill>
                  <a:srgbClr val="FB9B3B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High &gt;=4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77783" y="4807969"/>
            <a:ext cx="764497" cy="73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"/>
              </a:lnSpc>
            </a:pPr>
            <a:r>
              <a:rPr lang="en-US" sz="445" b="true">
                <a:solidFill>
                  <a:srgbClr val="FB9B3B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(In Rupees)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913962" y="8902055"/>
            <a:ext cx="1361112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Competit</a:t>
            </a: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or Hotspot 5km from Al-Wafa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46" id="46"/>
          <p:cNvSpPr txBox="true"/>
          <p:nvPr/>
        </p:nvSpPr>
        <p:spPr>
          <a:xfrm rot="0">
            <a:off x="923548" y="3315430"/>
            <a:ext cx="2373320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Observations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788316" y="4527913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783990" y="4471547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4000" y="7170411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814333" y="7122502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Fig:4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957639" y="10145694"/>
            <a:ext cx="1813639" cy="14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"/>
              </a:lnSpc>
              <a:spcBef>
                <a:spcPct val="0"/>
              </a:spcBef>
            </a:pPr>
            <a:r>
              <a:rPr lang="en-US" sz="73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Fig:5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594518" y="5575824"/>
            <a:ext cx="3398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3.6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22168" y="109987"/>
            <a:ext cx="144267" cy="3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0" y="-185300"/>
            <a:ext cx="18543789" cy="1853286"/>
            <a:chOff x="0" y="0"/>
            <a:chExt cx="4883961" cy="488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83961" cy="488108"/>
            </a:xfrm>
            <a:custGeom>
              <a:avLst/>
              <a:gdLst/>
              <a:ahLst/>
              <a:cxnLst/>
              <a:rect r="r" b="b" t="t" l="l"/>
              <a:pathLst>
                <a:path h="488108" w="4883961">
                  <a:moveTo>
                    <a:pt x="12525" y="0"/>
                  </a:moveTo>
                  <a:lnTo>
                    <a:pt x="4871436" y="0"/>
                  </a:lnTo>
                  <a:cubicBezTo>
                    <a:pt x="4878353" y="0"/>
                    <a:pt x="4883961" y="5608"/>
                    <a:pt x="4883961" y="12525"/>
                  </a:cubicBezTo>
                  <a:lnTo>
                    <a:pt x="4883961" y="475584"/>
                  </a:lnTo>
                  <a:cubicBezTo>
                    <a:pt x="4883961" y="482501"/>
                    <a:pt x="4878353" y="488108"/>
                    <a:pt x="4871436" y="488108"/>
                  </a:cubicBezTo>
                  <a:lnTo>
                    <a:pt x="12525" y="488108"/>
                  </a:lnTo>
                  <a:cubicBezTo>
                    <a:pt x="5608" y="488108"/>
                    <a:pt x="0" y="482501"/>
                    <a:pt x="0" y="475584"/>
                  </a:cubicBezTo>
                  <a:lnTo>
                    <a:pt x="0" y="12525"/>
                  </a:lnTo>
                  <a:cubicBezTo>
                    <a:pt x="0" y="5608"/>
                    <a:pt x="5608" y="0"/>
                    <a:pt x="12525" y="0"/>
                  </a:cubicBezTo>
                  <a:close/>
                </a:path>
              </a:pathLst>
            </a:custGeom>
            <a:solidFill>
              <a:srgbClr val="FB9B3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83961" cy="5357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24488" y="2680076"/>
            <a:ext cx="8662769" cy="2353769"/>
            <a:chOff x="0" y="0"/>
            <a:chExt cx="11550359" cy="313835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1550359" cy="3138359"/>
              <a:chOff x="0" y="0"/>
              <a:chExt cx="2281552" cy="61992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281552" cy="619923"/>
              </a:xfrm>
              <a:custGeom>
                <a:avLst/>
                <a:gdLst/>
                <a:ahLst/>
                <a:cxnLst/>
                <a:rect r="r" b="b" t="t" l="l"/>
                <a:pathLst>
                  <a:path h="619923" w="2281552">
                    <a:moveTo>
                      <a:pt x="35748" y="0"/>
                    </a:moveTo>
                    <a:lnTo>
                      <a:pt x="2245804" y="0"/>
                    </a:lnTo>
                    <a:cubicBezTo>
                      <a:pt x="2265548" y="0"/>
                      <a:pt x="2281552" y="16005"/>
                      <a:pt x="2281552" y="35748"/>
                    </a:cubicBezTo>
                    <a:lnTo>
                      <a:pt x="2281552" y="584175"/>
                    </a:lnTo>
                    <a:cubicBezTo>
                      <a:pt x="2281552" y="593656"/>
                      <a:pt x="2277786" y="602748"/>
                      <a:pt x="2271082" y="609452"/>
                    </a:cubicBezTo>
                    <a:cubicBezTo>
                      <a:pt x="2264378" y="616156"/>
                      <a:pt x="2255285" y="619923"/>
                      <a:pt x="2245804" y="619923"/>
                    </a:cubicBezTo>
                    <a:lnTo>
                      <a:pt x="35748" y="619923"/>
                    </a:lnTo>
                    <a:cubicBezTo>
                      <a:pt x="16005" y="619923"/>
                      <a:pt x="0" y="603918"/>
                      <a:pt x="0" y="584175"/>
                    </a:cubicBezTo>
                    <a:lnTo>
                      <a:pt x="0" y="35748"/>
                    </a:lnTo>
                    <a:cubicBezTo>
                      <a:pt x="0" y="16005"/>
                      <a:pt x="16005" y="0"/>
                      <a:pt x="35748" y="0"/>
                    </a:cubicBezTo>
                    <a:close/>
                  </a:path>
                </a:pathLst>
              </a:custGeom>
              <a:solidFill>
                <a:srgbClr val="D29C5E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2281552" cy="66754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341326" y="303625"/>
              <a:ext cx="10307031" cy="25025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59080" indent="-129540" lvl="1">
                <a:lnSpc>
                  <a:spcPts val="1679"/>
                </a:lnSpc>
                <a:buFont typeface="Arial"/>
                <a:buChar char="•"/>
              </a:pP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</a:t>
              </a: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tand</a:t>
              </a: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</a:t>
              </a: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rdize taste and portion sizes</a:t>
              </a:r>
            </a:p>
            <a:p>
              <a:pPr algn="l" marL="259080" indent="-129540" lvl="1">
                <a:lnSpc>
                  <a:spcPts val="1679"/>
                </a:lnSpc>
                <a:buFont typeface="Arial"/>
                <a:buChar char="•"/>
              </a:pP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Clarify portion sizes and servings:</a:t>
              </a:r>
            </a:p>
            <a:p>
              <a:pPr algn="l" marL="518160" indent="-172720" lvl="2">
                <a:lnSpc>
                  <a:spcPts val="1679"/>
                </a:lnSpc>
                <a:buFont typeface="Arial"/>
                <a:buChar char="⚬"/>
              </a:pP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Clearly indicate both weight (e.g., 250g, 500g, 1kg) &amp; serving size (e.g., “Serves 1,” “Serves 2–3”) in the item descriptions.</a:t>
              </a:r>
            </a:p>
            <a:p>
              <a:pPr algn="l" marL="259080" indent="-129540" lvl="1">
                <a:lnSpc>
                  <a:spcPts val="1679"/>
                </a:lnSpc>
                <a:buFont typeface="Arial"/>
                <a:buChar char="•"/>
              </a:pP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For side dishes like Chicken 65, specify the number of pieces and ensure images match the stated portion.</a:t>
              </a:r>
            </a:p>
            <a:p>
              <a:pPr algn="l" marL="259080" indent="-129540" lvl="1">
                <a:lnSpc>
                  <a:spcPts val="1679"/>
                </a:lnSpc>
                <a:buFont typeface="Arial"/>
                <a:buChar char="•"/>
              </a:pP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Avoid using identical images for different portion sizes, as it misleads customers.</a:t>
              </a:r>
            </a:p>
            <a:p>
              <a:pPr algn="l" marL="259080" indent="-129540" lvl="1">
                <a:lnSpc>
                  <a:spcPts val="1679"/>
                </a:lnSpc>
                <a:buFont typeface="Arial"/>
                <a:buChar char="•"/>
              </a:pPr>
              <a:r>
                <a:rPr lang="en-US" sz="12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Update high quality images that match the actual offering precisely and avoid no image listings, half filed portion images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00472" y="5666082"/>
            <a:ext cx="8495503" cy="1908423"/>
            <a:chOff x="0" y="0"/>
            <a:chExt cx="3085601" cy="6931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85601" cy="693147"/>
            </a:xfrm>
            <a:custGeom>
              <a:avLst/>
              <a:gdLst/>
              <a:ahLst/>
              <a:cxnLst/>
              <a:rect r="r" b="b" t="t" l="l"/>
              <a:pathLst>
                <a:path h="693147" w="3085601">
                  <a:moveTo>
                    <a:pt x="36452" y="0"/>
                  </a:moveTo>
                  <a:lnTo>
                    <a:pt x="3049149" y="0"/>
                  </a:lnTo>
                  <a:cubicBezTo>
                    <a:pt x="3058817" y="0"/>
                    <a:pt x="3068089" y="3840"/>
                    <a:pt x="3074925" y="10676"/>
                  </a:cubicBezTo>
                  <a:cubicBezTo>
                    <a:pt x="3081761" y="17513"/>
                    <a:pt x="3085601" y="26784"/>
                    <a:pt x="3085601" y="36452"/>
                  </a:cubicBezTo>
                  <a:lnTo>
                    <a:pt x="3085601" y="656695"/>
                  </a:lnTo>
                  <a:cubicBezTo>
                    <a:pt x="3085601" y="666363"/>
                    <a:pt x="3081761" y="675634"/>
                    <a:pt x="3074925" y="682470"/>
                  </a:cubicBezTo>
                  <a:cubicBezTo>
                    <a:pt x="3068089" y="689306"/>
                    <a:pt x="3058817" y="693147"/>
                    <a:pt x="3049149" y="693147"/>
                  </a:cubicBezTo>
                  <a:lnTo>
                    <a:pt x="36452" y="693147"/>
                  </a:lnTo>
                  <a:cubicBezTo>
                    <a:pt x="26784" y="693147"/>
                    <a:pt x="17513" y="689306"/>
                    <a:pt x="10676" y="682470"/>
                  </a:cubicBezTo>
                  <a:cubicBezTo>
                    <a:pt x="3840" y="675634"/>
                    <a:pt x="0" y="666363"/>
                    <a:pt x="0" y="656695"/>
                  </a:cubicBezTo>
                  <a:lnTo>
                    <a:pt x="0" y="36452"/>
                  </a:lnTo>
                  <a:cubicBezTo>
                    <a:pt x="0" y="26784"/>
                    <a:pt x="3840" y="17513"/>
                    <a:pt x="10676" y="10676"/>
                  </a:cubicBezTo>
                  <a:cubicBezTo>
                    <a:pt x="17513" y="3840"/>
                    <a:pt x="26784" y="0"/>
                    <a:pt x="36452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085601" cy="740772"/>
            </a:xfrm>
            <a:prstGeom prst="rect">
              <a:avLst/>
            </a:prstGeom>
          </p:spPr>
          <p:txBody>
            <a:bodyPr anchor="ctr" rtlCol="false" tIns="36837" lIns="36837" bIns="36837" rIns="36837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308121" y="5825971"/>
            <a:ext cx="8495503" cy="156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1176" indent="-140588" lvl="1">
              <a:lnSpc>
                <a:spcPts val="18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302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Chennai identity in menu:</a:t>
            </a:r>
            <a:r>
              <a:rPr lang="en-US" sz="1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Incorporate local slang and explicitly mention “Chennai Biryani” in item names and descriptions for stronger regional recall</a:t>
            </a:r>
            <a:r>
              <a:rPr lang="en-US" sz="1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(e.g., “Singaara Samayal Chennai Biryani – vera level aroma, semma tasty da!”).</a:t>
            </a:r>
          </a:p>
          <a:p>
            <a:pPr algn="l" marL="281176" indent="-140588" lvl="1">
              <a:lnSpc>
                <a:spcPts val="18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302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Loyalty gestures: </a:t>
            </a:r>
            <a:r>
              <a:rPr lang="en-US" sz="1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Surprise loyal customers with goodwill touches (extra portions, personalized notes, or small freebies) to strengthen retention and trust.</a:t>
            </a:r>
          </a:p>
          <a:p>
            <a:pPr algn="l" marL="281176" indent="-140588" lvl="1">
              <a:lnSpc>
                <a:spcPts val="182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302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Branded packaging</a:t>
            </a:r>
            <a:r>
              <a:rPr lang="en-US" sz="1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: Introduce distinctive food packaging to reinforce brand presence</a:t>
            </a:r>
          </a:p>
          <a:p>
            <a:pPr algn="ctr">
              <a:lnSpc>
                <a:spcPts val="1522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36996" y="5728612"/>
            <a:ext cx="8915704" cy="1771882"/>
            <a:chOff x="0" y="0"/>
            <a:chExt cx="11887605" cy="236251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1887605" cy="2362510"/>
              <a:chOff x="0" y="0"/>
              <a:chExt cx="2129112" cy="42313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129112" cy="423134"/>
              </a:xfrm>
              <a:custGeom>
                <a:avLst/>
                <a:gdLst/>
                <a:ahLst/>
                <a:cxnLst/>
                <a:rect r="r" b="b" t="t" l="l"/>
                <a:pathLst>
                  <a:path h="423134" w="2129112">
                    <a:moveTo>
                      <a:pt x="38308" y="0"/>
                    </a:moveTo>
                    <a:lnTo>
                      <a:pt x="2090805" y="0"/>
                    </a:lnTo>
                    <a:cubicBezTo>
                      <a:pt x="2111961" y="0"/>
                      <a:pt x="2129112" y="17151"/>
                      <a:pt x="2129112" y="38308"/>
                    </a:cubicBezTo>
                    <a:lnTo>
                      <a:pt x="2129112" y="384826"/>
                    </a:lnTo>
                    <a:cubicBezTo>
                      <a:pt x="2129112" y="405983"/>
                      <a:pt x="2111961" y="423134"/>
                      <a:pt x="2090805" y="423134"/>
                    </a:cubicBezTo>
                    <a:lnTo>
                      <a:pt x="38308" y="423134"/>
                    </a:lnTo>
                    <a:cubicBezTo>
                      <a:pt x="17151" y="423134"/>
                      <a:pt x="0" y="405983"/>
                      <a:pt x="0" y="384826"/>
                    </a:cubicBezTo>
                    <a:lnTo>
                      <a:pt x="0" y="38308"/>
                    </a:lnTo>
                    <a:cubicBezTo>
                      <a:pt x="0" y="17151"/>
                      <a:pt x="17151" y="0"/>
                      <a:pt x="38308" y="0"/>
                    </a:cubicBezTo>
                    <a:close/>
                  </a:path>
                </a:pathLst>
              </a:custGeom>
              <a:solidFill>
                <a:srgbClr val="D5544E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2129112" cy="4707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48086" y="21618"/>
              <a:ext cx="11014288" cy="21406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58"/>
                </a:lnSpc>
                <a:spcBef>
                  <a:spcPct val="0"/>
                </a:spcBef>
              </a:pPr>
            </a:p>
            <a:p>
              <a:pPr algn="l" marL="286568" indent="-143284" lvl="1">
                <a:lnSpc>
                  <a:spcPts val="185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327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Develop and test a “Double Chicken 65 Special” combo meal based on strong customer preference data.</a:t>
              </a:r>
            </a:p>
            <a:p>
              <a:pPr algn="l" marL="286568" indent="-143284" lvl="1">
                <a:lnSpc>
                  <a:spcPts val="185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327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Track seasonal consumption trends (e.g., reduced soft drink demand in winter) and adjust the menu accordingly such as introducing soups or warm beverages during colder months.</a:t>
              </a:r>
            </a:p>
            <a:p>
              <a:pPr algn="l" marL="286568" indent="-143284" lvl="1">
                <a:lnSpc>
                  <a:spcPts val="185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327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Drop low performing items from the Menu periodically and maintain focused menu</a:t>
              </a:r>
            </a:p>
            <a:p>
              <a:pPr algn="ctr">
                <a:lnSpc>
                  <a:spcPts val="185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1862" y="8313850"/>
            <a:ext cx="8672431" cy="1973150"/>
            <a:chOff x="0" y="0"/>
            <a:chExt cx="7331335" cy="1668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31335" cy="1668024"/>
            </a:xfrm>
            <a:custGeom>
              <a:avLst/>
              <a:gdLst/>
              <a:ahLst/>
              <a:cxnLst/>
              <a:rect r="r" b="b" t="t" l="l"/>
              <a:pathLst>
                <a:path h="1668024" w="7331335">
                  <a:moveTo>
                    <a:pt x="35708" y="0"/>
                  </a:moveTo>
                  <a:lnTo>
                    <a:pt x="7295628" y="0"/>
                  </a:lnTo>
                  <a:cubicBezTo>
                    <a:pt x="7305098" y="0"/>
                    <a:pt x="7314180" y="3762"/>
                    <a:pt x="7320876" y="10459"/>
                  </a:cubicBezTo>
                  <a:cubicBezTo>
                    <a:pt x="7327574" y="17155"/>
                    <a:pt x="7331335" y="26238"/>
                    <a:pt x="7331335" y="35708"/>
                  </a:cubicBezTo>
                  <a:lnTo>
                    <a:pt x="7331335" y="1632316"/>
                  </a:lnTo>
                  <a:cubicBezTo>
                    <a:pt x="7331335" y="1641786"/>
                    <a:pt x="7327574" y="1650868"/>
                    <a:pt x="7320876" y="1657565"/>
                  </a:cubicBezTo>
                  <a:cubicBezTo>
                    <a:pt x="7314180" y="1664262"/>
                    <a:pt x="7305098" y="1668024"/>
                    <a:pt x="7295628" y="1668024"/>
                  </a:cubicBezTo>
                  <a:lnTo>
                    <a:pt x="35708" y="1668024"/>
                  </a:lnTo>
                  <a:cubicBezTo>
                    <a:pt x="26238" y="1668024"/>
                    <a:pt x="17155" y="1664262"/>
                    <a:pt x="10459" y="1657565"/>
                  </a:cubicBezTo>
                  <a:cubicBezTo>
                    <a:pt x="3762" y="1650868"/>
                    <a:pt x="0" y="1641786"/>
                    <a:pt x="0" y="1632316"/>
                  </a:cubicBezTo>
                  <a:lnTo>
                    <a:pt x="0" y="35708"/>
                  </a:lnTo>
                  <a:cubicBezTo>
                    <a:pt x="0" y="26238"/>
                    <a:pt x="3762" y="17155"/>
                    <a:pt x="10459" y="10459"/>
                  </a:cubicBezTo>
                  <a:cubicBezTo>
                    <a:pt x="17155" y="3762"/>
                    <a:pt x="26238" y="0"/>
                    <a:pt x="35708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7331335" cy="1715649"/>
            </a:xfrm>
            <a:prstGeom prst="rect">
              <a:avLst/>
            </a:prstGeom>
          </p:spPr>
          <p:txBody>
            <a:bodyPr anchor="ctr" rtlCol="false" tIns="15827" lIns="15827" bIns="15827" rIns="15827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00472" y="8304977"/>
            <a:ext cx="8711652" cy="2325994"/>
            <a:chOff x="0" y="0"/>
            <a:chExt cx="11615536" cy="310132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1615536" cy="3101326"/>
              <a:chOff x="0" y="0"/>
              <a:chExt cx="1980569" cy="52880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80569" cy="528808"/>
              </a:xfrm>
              <a:custGeom>
                <a:avLst/>
                <a:gdLst/>
                <a:ahLst/>
                <a:cxnLst/>
                <a:rect r="r" b="b" t="t" l="l"/>
                <a:pathLst>
                  <a:path h="528808" w="1980569">
                    <a:moveTo>
                      <a:pt x="30885" y="0"/>
                    </a:moveTo>
                    <a:lnTo>
                      <a:pt x="1949683" y="0"/>
                    </a:lnTo>
                    <a:cubicBezTo>
                      <a:pt x="1966741" y="0"/>
                      <a:pt x="1980569" y="13828"/>
                      <a:pt x="1980569" y="30885"/>
                    </a:cubicBezTo>
                    <a:lnTo>
                      <a:pt x="1980569" y="497923"/>
                    </a:lnTo>
                    <a:cubicBezTo>
                      <a:pt x="1980569" y="514980"/>
                      <a:pt x="1966741" y="528808"/>
                      <a:pt x="1949683" y="528808"/>
                    </a:cubicBezTo>
                    <a:lnTo>
                      <a:pt x="30885" y="528808"/>
                    </a:lnTo>
                    <a:cubicBezTo>
                      <a:pt x="13828" y="528808"/>
                      <a:pt x="0" y="514980"/>
                      <a:pt x="0" y="497923"/>
                    </a:cubicBezTo>
                    <a:lnTo>
                      <a:pt x="0" y="30885"/>
                    </a:lnTo>
                    <a:cubicBezTo>
                      <a:pt x="0" y="13828"/>
                      <a:pt x="13828" y="0"/>
                      <a:pt x="30885" y="0"/>
                    </a:cubicBezTo>
                    <a:close/>
                  </a:path>
                </a:pathLst>
              </a:custGeom>
              <a:solidFill>
                <a:srgbClr val="D5544E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1980569" cy="5764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41782" y="285162"/>
              <a:ext cx="10648199" cy="2222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67710" indent="-133855" lvl="1">
                <a:lnSpc>
                  <a:spcPts val="1735"/>
                </a:lnSpc>
                <a:buFont typeface="Arial"/>
                <a:buChar char="•"/>
              </a:pPr>
              <a:r>
                <a:rPr lang="en-US" sz="1239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Promote sodas &amp; side dishes as add-on recommendations in app alongside relevant food pairings using a “Tastes Better With” tag for better contextual appeal specially with Plain Biryani.</a:t>
              </a:r>
            </a:p>
            <a:p>
              <a:pPr algn="l" marL="267710" indent="-133855" lvl="1">
                <a:lnSpc>
                  <a:spcPts val="1735"/>
                </a:lnSpc>
                <a:buFont typeface="Arial"/>
                <a:buChar char="•"/>
              </a:pPr>
              <a:r>
                <a:rPr lang="en-US" sz="1239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Highlight Paneer Goli Soda’s strong customer ratings in promotional visuals to reinforce positive sentiment and drive choice confidence.</a:t>
              </a:r>
            </a:p>
            <a:p>
              <a:pPr algn="l" marL="267710" indent="-133855" lvl="1">
                <a:lnSpc>
                  <a:spcPts val="1735"/>
                </a:lnSpc>
                <a:buFont typeface="Arial"/>
                <a:buChar char="•"/>
              </a:pPr>
              <a:r>
                <a:rPr lang="en-US" sz="1239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Periodically monitor Blueberry Goli Soda’s brand reputation and sensory alignment through in-store feedback and controlled taste checks to ensure product experience remains consistent with customer expectations.</a:t>
              </a:r>
            </a:p>
            <a:p>
              <a:pPr algn="l" marL="267710" indent="-133855" lvl="1">
                <a:lnSpc>
                  <a:spcPts val="1735"/>
                </a:lnSpc>
                <a:buFont typeface="Arial"/>
                <a:buChar char="•"/>
              </a:pPr>
              <a:r>
                <a:rPr lang="en-US" sz="1239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Explore Swiggy features as well and avoid over dependance on just Zomato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6996" y="2836347"/>
            <a:ext cx="8915704" cy="1982432"/>
            <a:chOff x="0" y="0"/>
            <a:chExt cx="11887605" cy="264324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1887605" cy="2643242"/>
              <a:chOff x="0" y="0"/>
              <a:chExt cx="2514309" cy="559064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514309" cy="559064"/>
              </a:xfrm>
              <a:custGeom>
                <a:avLst/>
                <a:gdLst/>
                <a:ahLst/>
                <a:cxnLst/>
                <a:rect r="r" b="b" t="t" l="l"/>
                <a:pathLst>
                  <a:path h="559064" w="2514309">
                    <a:moveTo>
                      <a:pt x="32439" y="0"/>
                    </a:moveTo>
                    <a:lnTo>
                      <a:pt x="2481870" y="0"/>
                    </a:lnTo>
                    <a:cubicBezTo>
                      <a:pt x="2499786" y="0"/>
                      <a:pt x="2514309" y="14523"/>
                      <a:pt x="2514309" y="32439"/>
                    </a:cubicBezTo>
                    <a:lnTo>
                      <a:pt x="2514309" y="526625"/>
                    </a:lnTo>
                    <a:cubicBezTo>
                      <a:pt x="2514309" y="544540"/>
                      <a:pt x="2499786" y="559064"/>
                      <a:pt x="2481870" y="559064"/>
                    </a:cubicBezTo>
                    <a:lnTo>
                      <a:pt x="32439" y="559064"/>
                    </a:lnTo>
                    <a:cubicBezTo>
                      <a:pt x="14523" y="559064"/>
                      <a:pt x="0" y="544540"/>
                      <a:pt x="0" y="526625"/>
                    </a:cubicBezTo>
                    <a:lnTo>
                      <a:pt x="0" y="32439"/>
                    </a:lnTo>
                    <a:cubicBezTo>
                      <a:pt x="0" y="14523"/>
                      <a:pt x="14523" y="0"/>
                      <a:pt x="32439" y="0"/>
                    </a:cubicBezTo>
                    <a:close/>
                  </a:path>
                </a:pathLst>
              </a:custGeom>
              <a:solidFill>
                <a:srgbClr val="D5544E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514309" cy="59716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175774" y="320460"/>
              <a:ext cx="10855106" cy="19737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02451" indent="-151225" lvl="1">
                <a:lnSpc>
                  <a:spcPts val="1961"/>
                </a:lnSpc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Stabilize weekday performance  through targeted promotions for nearby </a:t>
              </a:r>
              <a:r>
                <a:rPr lang="en-US" b="true" sz="1400">
                  <a:solidFill>
                    <a:srgbClr val="FFFFFF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workplace and institutional clusters</a:t>
              </a:r>
              <a:r>
                <a:rPr lang="en-US" sz="1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, such as the Madurai Court and surrounding colleges.</a:t>
              </a:r>
            </a:p>
            <a:p>
              <a:pPr algn="l" marL="302451" indent="-151225" lvl="1">
                <a:lnSpc>
                  <a:spcPts val="1961"/>
                </a:lnSpc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Offer Friday Group Bookings to promote Combos &amp; bucket orders like "Taste better with Friends", BOGO Offers. Avoid running offers for low value orders.</a:t>
              </a:r>
            </a:p>
            <a:p>
              <a:pPr algn="l" marL="302451" indent="-151225" lvl="1">
                <a:lnSpc>
                  <a:spcPts val="1961"/>
                </a:lnSpc>
                <a:buFont typeface="Arial"/>
                <a:buChar char="•"/>
              </a:pPr>
              <a:r>
                <a:rPr lang="en-US" sz="1400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Launch result-based student discounts (e.g., “Score 80%? Get 20% Off!”) to build emotional engagement and encourage call-to-order to reduce aggregator dependencies.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5400000">
            <a:off x="9335333" y="-408242"/>
            <a:ext cx="725756" cy="2057556"/>
          </a:xfrm>
          <a:custGeom>
            <a:avLst/>
            <a:gdLst/>
            <a:ahLst/>
            <a:cxnLst/>
            <a:rect r="r" b="b" t="t" l="l"/>
            <a:pathLst>
              <a:path h="2057556" w="725756">
                <a:moveTo>
                  <a:pt x="0" y="0"/>
                </a:moveTo>
                <a:lnTo>
                  <a:pt x="725756" y="0"/>
                </a:lnTo>
                <a:lnTo>
                  <a:pt x="725756" y="2057556"/>
                </a:lnTo>
                <a:lnTo>
                  <a:pt x="0" y="20575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647694" y="4743"/>
            <a:ext cx="8021739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Collectively, these findings highlight the need for customer experience enhancement, digital storefront, menu optimization, and local ecosystem strengthening to improve retention, reputation, and operational efficiency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8047" y="8336351"/>
            <a:ext cx="8014064" cy="2509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1"/>
              </a:lnSpc>
            </a:pPr>
            <a:r>
              <a:rPr lang="en-US" sz="132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Al-Wafa can take small, practical steps to build a more supportive local ecosystem:</a:t>
            </a:r>
          </a:p>
          <a:p>
            <a:pPr algn="l" marL="287146" indent="-143573" lvl="1">
              <a:lnSpc>
                <a:spcPts val="1861"/>
              </a:lnSpc>
              <a:buFont typeface="Arial"/>
              <a:buChar char="•"/>
            </a:pPr>
            <a:r>
              <a:rPr lang="en-US" b="true" sz="132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Comfort zone setup:</a:t>
            </a:r>
            <a:r>
              <a:rPr lang="en-US" sz="132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 Establish shaded seating and mobile charging points to encourage delivery partners to stay nearby during peak hours, improving pickup efficiency and reducing delays.</a:t>
            </a:r>
          </a:p>
          <a:p>
            <a:pPr algn="l" marL="287146" indent="-143573" lvl="1">
              <a:lnSpc>
                <a:spcPts val="1861"/>
              </a:lnSpc>
              <a:buFont typeface="Arial"/>
              <a:buChar char="•"/>
            </a:pPr>
            <a:r>
              <a:rPr lang="en-US" b="true" sz="132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Personalized engagement: </a:t>
            </a:r>
            <a:r>
              <a:rPr lang="en-US" sz="132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Add printed or handwritten rating encouragement notes or personalized messages in digital receipts to increase post-order engagement.</a:t>
            </a:r>
          </a:p>
          <a:p>
            <a:pPr algn="l" marL="287146" indent="-143573" lvl="1">
              <a:lnSpc>
                <a:spcPts val="1861"/>
              </a:lnSpc>
              <a:buFont typeface="Arial"/>
              <a:buChar char="•"/>
            </a:pPr>
            <a:r>
              <a:rPr lang="en-US" b="true" sz="1329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Review etiquette: </a:t>
            </a:r>
            <a:r>
              <a:rPr lang="en-US" sz="132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Be polite when responding to negative reviews and reply to positive reviews as soon as possible.</a:t>
            </a:r>
          </a:p>
          <a:p>
            <a:pPr algn="l">
              <a:lnSpc>
                <a:spcPts val="1861"/>
              </a:lnSpc>
            </a:pPr>
          </a:p>
          <a:p>
            <a:pPr algn="l">
              <a:lnSpc>
                <a:spcPts val="1861"/>
              </a:lnSpc>
            </a:pPr>
          </a:p>
          <a:p>
            <a:pPr algn="l">
              <a:lnSpc>
                <a:spcPts val="1861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1065237" y="91649"/>
            <a:ext cx="703771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931367" y="1821942"/>
            <a:ext cx="4788842" cy="858134"/>
            <a:chOff x="0" y="0"/>
            <a:chExt cx="6385122" cy="1144179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1156458" y="161925"/>
              <a:ext cx="5228664" cy="7097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5"/>
                </a:lnSpc>
              </a:pPr>
              <a:r>
                <a:rPr lang="en-US" sz="4323">
                  <a:solidFill>
                    <a:srgbClr val="000000"/>
                  </a:solidFill>
                  <a:latin typeface="Sacramento"/>
                  <a:ea typeface="Sacramento"/>
                  <a:cs typeface="Sacramento"/>
                  <a:sym typeface="Sacramento"/>
                </a:rPr>
                <a:t>You Get what you see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998802"/>
              <a:ext cx="4953741" cy="145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9"/>
                </a:lnSpc>
              </a:pPr>
              <a:r>
                <a:rPr lang="en-US" b="true" sz="599" spc="103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CONSISTENCY &amp; CLARITY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726989" y="4946315"/>
            <a:ext cx="4993220" cy="651171"/>
            <a:chOff x="0" y="0"/>
            <a:chExt cx="6657626" cy="868228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767107" y="161925"/>
              <a:ext cx="5890519" cy="706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6"/>
                </a:lnSpc>
              </a:pPr>
              <a:r>
                <a:rPr lang="en-US" sz="4286">
                  <a:solidFill>
                    <a:srgbClr val="000000"/>
                  </a:solidFill>
                  <a:latin typeface="Sacramento"/>
                  <a:ea typeface="Sacramento"/>
                  <a:cs typeface="Sacramento"/>
                  <a:sym typeface="Sacramento"/>
                </a:rPr>
                <a:t>I am different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719655"/>
              <a:ext cx="5580795" cy="148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1"/>
                </a:lnSpc>
              </a:pPr>
              <a:r>
                <a:rPr lang="en-US" b="true" sz="594" spc="102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INDENTITY &amp; RECALL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151518" y="7643352"/>
            <a:ext cx="4144162" cy="560606"/>
            <a:chOff x="0" y="0"/>
            <a:chExt cx="5525549" cy="747474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1127276" y="142875"/>
              <a:ext cx="4398273" cy="604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15"/>
                </a:lnSpc>
              </a:pPr>
              <a:r>
                <a:rPr lang="en-US" sz="3690">
                  <a:solidFill>
                    <a:srgbClr val="000000"/>
                  </a:solidFill>
                  <a:latin typeface="Sacramento"/>
                  <a:ea typeface="Sacramento"/>
                  <a:cs typeface="Sacramento"/>
                  <a:sym typeface="Sacramento"/>
                </a:rPr>
                <a:t>Make the most of it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593949"/>
              <a:ext cx="4064923" cy="119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74"/>
                </a:lnSpc>
              </a:pPr>
              <a:r>
                <a:rPr lang="en-US" b="true" sz="499" spc="85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PROMOTE &amp; UPSELL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008823" y="2064498"/>
            <a:ext cx="4087517" cy="602809"/>
            <a:chOff x="0" y="0"/>
            <a:chExt cx="5450022" cy="803745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142875"/>
              <a:ext cx="4229400" cy="6608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34"/>
                </a:lnSpc>
              </a:pPr>
              <a:r>
                <a:rPr lang="en-US" sz="3968">
                  <a:solidFill>
                    <a:srgbClr val="000000"/>
                  </a:solidFill>
                  <a:latin typeface="Sacramento"/>
                  <a:ea typeface="Sacramento"/>
                  <a:cs typeface="Sacramento"/>
                  <a:sym typeface="Sacramento"/>
                </a:rPr>
                <a:t>Strategic offers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847339" y="673609"/>
              <a:ext cx="2602683" cy="1301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53"/>
                </a:lnSpc>
              </a:pPr>
              <a:r>
                <a:rPr lang="en-US" b="true" sz="550" spc="94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LONG TERM RELATIONSHIPS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446918" y="4901830"/>
            <a:ext cx="4295861" cy="695656"/>
            <a:chOff x="0" y="0"/>
            <a:chExt cx="5727815" cy="927541"/>
          </a:xfrm>
        </p:grpSpPr>
        <p:sp>
          <p:nvSpPr>
            <p:cNvPr name="TextBox 49" id="49"/>
            <p:cNvSpPr txBox="true"/>
            <p:nvPr/>
          </p:nvSpPr>
          <p:spPr>
            <a:xfrm rot="0">
              <a:off x="0" y="180975"/>
              <a:ext cx="5727815" cy="746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7"/>
                </a:lnSpc>
              </a:pPr>
              <a:r>
                <a:rPr lang="en-US" sz="4579">
                  <a:solidFill>
                    <a:srgbClr val="000000"/>
                  </a:solidFill>
                  <a:latin typeface="Sacramento"/>
                  <a:ea typeface="Sacramento"/>
                  <a:cs typeface="Sacramento"/>
                  <a:sym typeface="Sacramento"/>
                </a:rPr>
                <a:t>Innovate &amp; Adapt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2102333" y="742242"/>
              <a:ext cx="3003559" cy="147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84"/>
                </a:lnSpc>
              </a:pPr>
              <a:r>
                <a:rPr lang="en-US" b="true" sz="635" spc="109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CUSTOMIZE TO CAPTURE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955447" y="7568109"/>
            <a:ext cx="3406232" cy="711092"/>
            <a:chOff x="0" y="0"/>
            <a:chExt cx="4541642" cy="948123"/>
          </a:xfrm>
        </p:grpSpPr>
        <p:sp>
          <p:nvSpPr>
            <p:cNvPr name="TextBox 52" id="52"/>
            <p:cNvSpPr txBox="true"/>
            <p:nvPr/>
          </p:nvSpPr>
          <p:spPr>
            <a:xfrm rot="0">
              <a:off x="0" y="180975"/>
              <a:ext cx="3720329" cy="7671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8"/>
                </a:lnSpc>
              </a:pPr>
              <a:r>
                <a:rPr lang="en-US" sz="4681">
                  <a:solidFill>
                    <a:srgbClr val="000000"/>
                  </a:solidFill>
                  <a:latin typeface="Sacramento"/>
                  <a:ea typeface="Sacramento"/>
                  <a:cs typeface="Sacramento"/>
                  <a:sym typeface="Sacramento"/>
                </a:rPr>
                <a:t>Engagement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610159" y="786477"/>
              <a:ext cx="2931484" cy="1616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22"/>
                </a:lnSpc>
              </a:pPr>
              <a:r>
                <a:rPr lang="en-US" b="true" sz="659" spc="113">
                  <a:solidFill>
                    <a:srgbClr val="000000"/>
                  </a:solidFill>
                  <a:latin typeface="Montserrat Semi-Bold"/>
                  <a:ea typeface="Montserrat Semi-Bold"/>
                  <a:cs typeface="Montserrat Semi-Bold"/>
                  <a:sym typeface="Montserrat Semi-Bold"/>
                </a:rPr>
                <a:t>OPERATIONAL RELIABILITY 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16063866" y="1651907"/>
            <a:ext cx="2928724" cy="1028169"/>
          </a:xfrm>
          <a:custGeom>
            <a:avLst/>
            <a:gdLst/>
            <a:ahLst/>
            <a:cxnLst/>
            <a:rect r="r" b="b" t="t" l="l"/>
            <a:pathLst>
              <a:path h="1028169" w="2928724">
                <a:moveTo>
                  <a:pt x="0" y="0"/>
                </a:moveTo>
                <a:lnTo>
                  <a:pt x="2928724" y="0"/>
                </a:lnTo>
                <a:lnTo>
                  <a:pt x="2928724" y="1028169"/>
                </a:lnTo>
                <a:lnTo>
                  <a:pt x="0" y="1028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222022" y="109987"/>
            <a:ext cx="144560" cy="3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00853" y="1466874"/>
            <a:ext cx="7612678" cy="7791426"/>
            <a:chOff x="0" y="0"/>
            <a:chExt cx="1070907" cy="10960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0908" cy="1096053"/>
            </a:xfrm>
            <a:custGeom>
              <a:avLst/>
              <a:gdLst/>
              <a:ahLst/>
              <a:cxnLst/>
              <a:rect r="r" b="b" t="t" l="l"/>
              <a:pathLst>
                <a:path h="1096053" w="1070908">
                  <a:moveTo>
                    <a:pt x="46781" y="0"/>
                  </a:moveTo>
                  <a:lnTo>
                    <a:pt x="1024127" y="0"/>
                  </a:lnTo>
                  <a:cubicBezTo>
                    <a:pt x="1049963" y="0"/>
                    <a:pt x="1070908" y="20945"/>
                    <a:pt x="1070908" y="46781"/>
                  </a:cubicBezTo>
                  <a:lnTo>
                    <a:pt x="1070908" y="1049272"/>
                  </a:lnTo>
                  <a:cubicBezTo>
                    <a:pt x="1070908" y="1075108"/>
                    <a:pt x="1049963" y="1096053"/>
                    <a:pt x="1024127" y="1096053"/>
                  </a:cubicBezTo>
                  <a:lnTo>
                    <a:pt x="46781" y="1096053"/>
                  </a:lnTo>
                  <a:cubicBezTo>
                    <a:pt x="20945" y="1096053"/>
                    <a:pt x="0" y="1075108"/>
                    <a:pt x="0" y="1049272"/>
                  </a:cubicBezTo>
                  <a:lnTo>
                    <a:pt x="0" y="46781"/>
                  </a:lnTo>
                  <a:cubicBezTo>
                    <a:pt x="0" y="20945"/>
                    <a:pt x="20945" y="0"/>
                    <a:pt x="4678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216" r="0" b="-1521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11824" y="8774879"/>
            <a:ext cx="3727353" cy="722622"/>
            <a:chOff x="0" y="0"/>
            <a:chExt cx="981690" cy="190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1690" cy="190320"/>
            </a:xfrm>
            <a:custGeom>
              <a:avLst/>
              <a:gdLst/>
              <a:ahLst/>
              <a:cxnLst/>
              <a:rect r="r" b="b" t="t" l="l"/>
              <a:pathLst>
                <a:path h="190320" w="981690">
                  <a:moveTo>
                    <a:pt x="95160" y="0"/>
                  </a:moveTo>
                  <a:lnTo>
                    <a:pt x="886530" y="0"/>
                  </a:lnTo>
                  <a:cubicBezTo>
                    <a:pt x="911768" y="0"/>
                    <a:pt x="935972" y="10026"/>
                    <a:pt x="953818" y="27872"/>
                  </a:cubicBezTo>
                  <a:cubicBezTo>
                    <a:pt x="971664" y="45718"/>
                    <a:pt x="981690" y="69922"/>
                    <a:pt x="981690" y="95160"/>
                  </a:cubicBezTo>
                  <a:lnTo>
                    <a:pt x="981690" y="95160"/>
                  </a:lnTo>
                  <a:cubicBezTo>
                    <a:pt x="981690" y="120398"/>
                    <a:pt x="971664" y="144602"/>
                    <a:pt x="953818" y="162448"/>
                  </a:cubicBezTo>
                  <a:cubicBezTo>
                    <a:pt x="935972" y="180294"/>
                    <a:pt x="911768" y="190320"/>
                    <a:pt x="886530" y="190320"/>
                  </a:cubicBezTo>
                  <a:lnTo>
                    <a:pt x="95160" y="190320"/>
                  </a:lnTo>
                  <a:cubicBezTo>
                    <a:pt x="69922" y="190320"/>
                    <a:pt x="45718" y="180294"/>
                    <a:pt x="27872" y="162448"/>
                  </a:cubicBezTo>
                  <a:cubicBezTo>
                    <a:pt x="10026" y="144602"/>
                    <a:pt x="0" y="120398"/>
                    <a:pt x="0" y="95160"/>
                  </a:cubicBezTo>
                  <a:lnTo>
                    <a:pt x="0" y="95160"/>
                  </a:lnTo>
                  <a:cubicBezTo>
                    <a:pt x="0" y="69922"/>
                    <a:pt x="10026" y="45718"/>
                    <a:pt x="27872" y="27872"/>
                  </a:cubicBezTo>
                  <a:cubicBezTo>
                    <a:pt x="45718" y="10026"/>
                    <a:pt x="69922" y="0"/>
                    <a:pt x="95160" y="0"/>
                  </a:cubicBezTo>
                  <a:close/>
                </a:path>
              </a:pathLst>
            </a:custGeom>
            <a:solidFill>
              <a:srgbClr val="D5544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981690" cy="237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19315" y="4595781"/>
            <a:ext cx="8368489" cy="3734789"/>
            <a:chOff x="0" y="0"/>
            <a:chExt cx="1615607" cy="7210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5607" cy="721032"/>
            </a:xfrm>
            <a:custGeom>
              <a:avLst/>
              <a:gdLst/>
              <a:ahLst/>
              <a:cxnLst/>
              <a:rect r="r" b="b" t="t" l="l"/>
              <a:pathLst>
                <a:path h="721032" w="1615607">
                  <a:moveTo>
                    <a:pt x="42556" y="0"/>
                  </a:moveTo>
                  <a:lnTo>
                    <a:pt x="1573051" y="0"/>
                  </a:lnTo>
                  <a:cubicBezTo>
                    <a:pt x="1596554" y="0"/>
                    <a:pt x="1615607" y="19053"/>
                    <a:pt x="1615607" y="42556"/>
                  </a:cubicBezTo>
                  <a:lnTo>
                    <a:pt x="1615607" y="678477"/>
                  </a:lnTo>
                  <a:cubicBezTo>
                    <a:pt x="1615607" y="701980"/>
                    <a:pt x="1596554" y="721032"/>
                    <a:pt x="1573051" y="721032"/>
                  </a:cubicBezTo>
                  <a:lnTo>
                    <a:pt x="42556" y="721032"/>
                  </a:lnTo>
                  <a:cubicBezTo>
                    <a:pt x="19053" y="721032"/>
                    <a:pt x="0" y="701980"/>
                    <a:pt x="0" y="678477"/>
                  </a:cubicBezTo>
                  <a:lnTo>
                    <a:pt x="0" y="42556"/>
                  </a:lnTo>
                  <a:cubicBezTo>
                    <a:pt x="0" y="19053"/>
                    <a:pt x="19053" y="0"/>
                    <a:pt x="4255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282" r="0" b="-2282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764878" y="1466874"/>
            <a:ext cx="985532" cy="1037402"/>
          </a:xfrm>
          <a:custGeom>
            <a:avLst/>
            <a:gdLst/>
            <a:ahLst/>
            <a:cxnLst/>
            <a:rect r="r" b="b" t="t" l="l"/>
            <a:pathLst>
              <a:path h="1037402" w="985532">
                <a:moveTo>
                  <a:pt x="0" y="0"/>
                </a:moveTo>
                <a:lnTo>
                  <a:pt x="985532" y="0"/>
                </a:lnTo>
                <a:lnTo>
                  <a:pt x="985532" y="1037402"/>
                </a:lnTo>
                <a:lnTo>
                  <a:pt x="0" y="1037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76227" y="7912197"/>
            <a:ext cx="2692205" cy="2692205"/>
          </a:xfrm>
          <a:custGeom>
            <a:avLst/>
            <a:gdLst/>
            <a:ahLst/>
            <a:cxnLst/>
            <a:rect r="r" b="b" t="t" l="l"/>
            <a:pathLst>
              <a:path h="2692205" w="2692205">
                <a:moveTo>
                  <a:pt x="0" y="0"/>
                </a:moveTo>
                <a:lnTo>
                  <a:pt x="2692205" y="0"/>
                </a:lnTo>
                <a:lnTo>
                  <a:pt x="2692205" y="2692206"/>
                </a:lnTo>
                <a:lnTo>
                  <a:pt x="0" y="2692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095288" y="8107490"/>
            <a:ext cx="1339180" cy="2057400"/>
          </a:xfrm>
          <a:custGeom>
            <a:avLst/>
            <a:gdLst/>
            <a:ahLst/>
            <a:cxnLst/>
            <a:rect r="r" b="b" t="t" l="l"/>
            <a:pathLst>
              <a:path h="2057400" w="1339180">
                <a:moveTo>
                  <a:pt x="0" y="0"/>
                </a:moveTo>
                <a:lnTo>
                  <a:pt x="1339180" y="0"/>
                </a:lnTo>
                <a:lnTo>
                  <a:pt x="133918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728584" y="1689876"/>
            <a:ext cx="11236085" cy="83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2"/>
              </a:lnSpc>
              <a:spcBef>
                <a:spcPct val="0"/>
              </a:spcBef>
            </a:pPr>
            <a:r>
              <a:rPr lang="en-US" b="true" sz="4966">
                <a:solidFill>
                  <a:srgbClr val="D554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OPPORTUNITIES.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28584" y="2666177"/>
            <a:ext cx="11193745" cy="212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3"/>
              </a:lnSpc>
            </a:pPr>
          </a:p>
          <a:p>
            <a:pPr algn="l" marL="375205" indent="-187602" lvl="1">
              <a:lnSpc>
                <a:spcPts val="2433"/>
              </a:lnSpc>
              <a:buFont typeface="Arial"/>
              <a:buChar char="•"/>
            </a:pPr>
            <a:r>
              <a:rPr lang="en-US" sz="1737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Develop a reliable forecast model with better exogenous variables like climate and local activity to efficiently plan operations, reducing dependency on aggregator-shared data.</a:t>
            </a:r>
          </a:p>
          <a:p>
            <a:pPr algn="l" marL="375205" indent="-187602" lvl="1">
              <a:lnSpc>
                <a:spcPts val="2433"/>
              </a:lnSpc>
              <a:buFont typeface="Arial"/>
              <a:buChar char="•"/>
            </a:pPr>
            <a:r>
              <a:rPr lang="en-US" sz="1737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Maintain income and expense reports using a simple Google Sheet for better financial tracking.</a:t>
            </a:r>
          </a:p>
          <a:p>
            <a:pPr algn="l" marL="375205" indent="-187602" lvl="1">
              <a:lnSpc>
                <a:spcPts val="2433"/>
              </a:lnSpc>
              <a:buFont typeface="Arial"/>
              <a:buChar char="•"/>
            </a:pPr>
            <a:r>
              <a:rPr lang="en-US" sz="1737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Conduct periodic staff training to ensure smooth order handling without hiccups.</a:t>
            </a:r>
          </a:p>
          <a:p>
            <a:pPr algn="l" marL="375205" indent="-187602" lvl="1">
              <a:lnSpc>
                <a:spcPts val="2433"/>
              </a:lnSpc>
              <a:buFont typeface="Arial"/>
              <a:buChar char="•"/>
            </a:pPr>
            <a:r>
              <a:rPr lang="en-US" sz="1737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Extend operating hours on Sundays to attract more sales and increase customer engagement.</a:t>
            </a:r>
          </a:p>
          <a:p>
            <a:pPr algn="l">
              <a:lnSpc>
                <a:spcPts val="2433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445218" y="8908225"/>
            <a:ext cx="3060566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Thank You!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34572" y="5003709"/>
            <a:ext cx="3012054" cy="139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"/>
              </a:lnSpc>
              <a:spcBef>
                <a:spcPct val="0"/>
              </a:spcBef>
            </a:pPr>
            <a:r>
              <a:rPr lang="en-US" sz="385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Mean Abs</a:t>
            </a:r>
            <a:r>
              <a:rPr lang="en-US" sz="385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olute Error (MAE) of 594.94 and a</a:t>
            </a:r>
          </a:p>
          <a:p>
            <a:pPr algn="ctr">
              <a:lnSpc>
                <a:spcPts val="539"/>
              </a:lnSpc>
              <a:spcBef>
                <a:spcPct val="0"/>
              </a:spcBef>
            </a:pPr>
            <a:r>
              <a:rPr lang="en-US" sz="385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Root Mean Squared Error (RMSE) of 748.32, suggesting that daily forecasts deviated by approximately ₹600–₹750 on average.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786" y="109987"/>
            <a:ext cx="237032" cy="31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  <a:spcBef>
                <a:spcPct val="0"/>
              </a:spcBef>
            </a:pPr>
            <a:r>
              <a:rPr lang="en-US" sz="1843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DAG7pzA2DkI</dc:identifier>
  <dcterms:modified xsi:type="dcterms:W3CDTF">2011-08-01T06:04:30Z</dcterms:modified>
  <cp:revision>1</cp:revision>
  <dc:title>Al-Wafa Biryani Analysis</dc:title>
</cp:coreProperties>
</file>